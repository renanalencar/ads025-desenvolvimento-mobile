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</p:sldIdLst>
  <p:sldSz cy="5143500" cx="9144000"/>
  <p:notesSz cx="6858000" cy="9144000"/>
  <p:embeddedFontLst>
    <p:embeddedFont>
      <p:font typeface="Barlow Condensed Medium"/>
      <p:regular r:id="rId35"/>
      <p:bold r:id="rId36"/>
      <p:italic r:id="rId37"/>
      <p:boldItalic r:id="rId38"/>
    </p:embeddedFont>
    <p:embeddedFont>
      <p:font typeface="Lato Light"/>
      <p:regular r:id="rId39"/>
      <p:bold r:id="rId40"/>
      <p:italic r:id="rId41"/>
      <p:boldItalic r:id="rId42"/>
    </p:embeddedFont>
    <p:embeddedFont>
      <p:font typeface="Barlow Condensed"/>
      <p:regular r:id="rId43"/>
      <p:bold r:id="rId44"/>
      <p:italic r:id="rId45"/>
      <p:boldItalic r:id="rId46"/>
    </p:embeddedFont>
    <p:embeddedFont>
      <p:font typeface="Barlow Medium"/>
      <p:regular r:id="rId47"/>
      <p:bold r:id="rId48"/>
      <p:italic r:id="rId49"/>
      <p:boldItalic r:id="rId50"/>
    </p:embeddedFont>
    <p:embeddedFont>
      <p:font typeface="Helvetica Neue"/>
      <p:regular r:id="rId51"/>
      <p:bold r:id="rId52"/>
      <p:italic r:id="rId53"/>
      <p:boldItalic r:id="rId54"/>
    </p:embeddedFont>
    <p:embeddedFont>
      <p:font typeface="Barlow"/>
      <p:regular r:id="rId55"/>
      <p:bold r:id="rId56"/>
      <p:italic r:id="rId57"/>
      <p:boldItalic r:id="rId5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LatoLight-bold.fntdata"/><Relationship Id="rId42" Type="http://schemas.openxmlformats.org/officeDocument/2006/relationships/font" Target="fonts/LatoLight-boldItalic.fntdata"/><Relationship Id="rId41" Type="http://schemas.openxmlformats.org/officeDocument/2006/relationships/font" Target="fonts/LatoLight-italic.fntdata"/><Relationship Id="rId44" Type="http://schemas.openxmlformats.org/officeDocument/2006/relationships/font" Target="fonts/BarlowCondensed-bold.fntdata"/><Relationship Id="rId43" Type="http://schemas.openxmlformats.org/officeDocument/2006/relationships/font" Target="fonts/BarlowCondensed-regular.fntdata"/><Relationship Id="rId46" Type="http://schemas.openxmlformats.org/officeDocument/2006/relationships/font" Target="fonts/BarlowCondensed-boldItalic.fntdata"/><Relationship Id="rId45" Type="http://schemas.openxmlformats.org/officeDocument/2006/relationships/font" Target="fonts/BarlowCondensed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BarlowMedium-bold.fntdata"/><Relationship Id="rId47" Type="http://schemas.openxmlformats.org/officeDocument/2006/relationships/font" Target="fonts/BarlowMedium-regular.fntdata"/><Relationship Id="rId49" Type="http://schemas.openxmlformats.org/officeDocument/2006/relationships/font" Target="fonts/BarlowMedium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font" Target="fonts/BarlowCondensedMedium-regular.fntdata"/><Relationship Id="rId34" Type="http://schemas.openxmlformats.org/officeDocument/2006/relationships/slide" Target="slides/slide29.xml"/><Relationship Id="rId37" Type="http://schemas.openxmlformats.org/officeDocument/2006/relationships/font" Target="fonts/BarlowCondensedMedium-italic.fntdata"/><Relationship Id="rId36" Type="http://schemas.openxmlformats.org/officeDocument/2006/relationships/font" Target="fonts/BarlowCondensedMedium-bold.fntdata"/><Relationship Id="rId39" Type="http://schemas.openxmlformats.org/officeDocument/2006/relationships/font" Target="fonts/LatoLight-regular.fntdata"/><Relationship Id="rId38" Type="http://schemas.openxmlformats.org/officeDocument/2006/relationships/font" Target="fonts/BarlowCondensedMedium-boldItalic.fnt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HelveticaNeue-regular.fntdata"/><Relationship Id="rId50" Type="http://schemas.openxmlformats.org/officeDocument/2006/relationships/font" Target="fonts/BarlowMedium-boldItalic.fntdata"/><Relationship Id="rId53" Type="http://schemas.openxmlformats.org/officeDocument/2006/relationships/font" Target="fonts/HelveticaNeue-italic.fntdata"/><Relationship Id="rId52" Type="http://schemas.openxmlformats.org/officeDocument/2006/relationships/font" Target="fonts/HelveticaNeue-bold.fntdata"/><Relationship Id="rId11" Type="http://schemas.openxmlformats.org/officeDocument/2006/relationships/slide" Target="slides/slide6.xml"/><Relationship Id="rId55" Type="http://schemas.openxmlformats.org/officeDocument/2006/relationships/font" Target="fonts/Barlow-regular.fntdata"/><Relationship Id="rId10" Type="http://schemas.openxmlformats.org/officeDocument/2006/relationships/slide" Target="slides/slide5.xml"/><Relationship Id="rId54" Type="http://schemas.openxmlformats.org/officeDocument/2006/relationships/font" Target="fonts/HelveticaNeue-boldItalic.fntdata"/><Relationship Id="rId13" Type="http://schemas.openxmlformats.org/officeDocument/2006/relationships/slide" Target="slides/slide8.xml"/><Relationship Id="rId57" Type="http://schemas.openxmlformats.org/officeDocument/2006/relationships/font" Target="fonts/Barlow-italic.fntdata"/><Relationship Id="rId12" Type="http://schemas.openxmlformats.org/officeDocument/2006/relationships/slide" Target="slides/slide7.xml"/><Relationship Id="rId56" Type="http://schemas.openxmlformats.org/officeDocument/2006/relationships/font" Target="fonts/Barlow-bold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58" Type="http://schemas.openxmlformats.org/officeDocument/2006/relationships/font" Target="fonts/Barlow-bold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" name="Google Shape;5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372acb4bb1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g3372acb4bb1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74bac405cc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g374bac405cc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74bac405cc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g374bac405cc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74bac405c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g374bac405c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372acb4bb1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g3372acb4bb1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372acb4bb1_0_2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g3372acb4bb1_0_2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372acb4bb1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" name="Google Shape;174;g3372acb4bb1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372acb4bb1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g3372acb4bb1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372acb4bb1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5" name="Google Shape;195;g3372acb4bb1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372acb4bb1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3" name="Google Shape;203;g3372acb4bb1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372acb4bb1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1" name="Google Shape;211;g3372acb4bb1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372acb4bb1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3" name="Google Shape;223;g3372acb4bb1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372acb4bb1_0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4" name="Google Shape;244;g3372acb4bb1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372acb4bb1_0_2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6" name="Google Shape;256;g3372acb4bb1_0_2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74bac405cc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7" name="Google Shape;267;g374bac405cc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74bac405cc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0" name="Google Shape;290;g374bac405cc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74bac405cc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2" name="Google Shape;302;g374bac405cc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/>
              <a:t>Em vez de pedir para a IA escrever um resumo sobre "Linguagens de Programação", peça que ela explique a diferença entre linguagens compiladas e interpretadas, e depois escreva o resumo com suas próprias palavras.</a:t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74bac405cc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6" name="Google Shape;316;g374bac405cc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372acb4bb1_0_3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0" name="Google Shape;330;g3372acb4bb1_0_3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/>
              <a:t>Se você está com dificuldade para criar uma função em JavaScript, peça à IA um exemplo básico e, em seguida, modifique o código para atender às suas necessidades específicas.</a:t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372acb4bb1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4" name="Google Shape;344;g3372acb4bb1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/>
              <a:t>Se você precisa escrever um relatório sobre "Sistemas Operacionais", escreva o texto primeiro e depois use a IA para revisar e sugerir melhorias.</a:t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74bac405cc_0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6" name="Google Shape;356;g374bac405cc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74bac405cc_0_1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8" name="Google Shape;368;g374bac405cc_0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374bac405cc_0_1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0" name="Google Shape;380;g374bac405cc_0_1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3372acb4bb1_0_2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0" name="Google Shape;390;g3372acb4bb1_0_2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3372acb4bb1_0_2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1" name="Google Shape;411;g3372acb4bb1_0_2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9" name="Google Shape;419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BULLET POINTS">
  <p:cSld name="TITLE_1_1_1_2">
    <p:bg>
      <p:bgPr>
        <a:solidFill>
          <a:schemeClr val="dk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5925025" y="319150"/>
            <a:ext cx="2619000" cy="459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1031800" y="1147775"/>
            <a:ext cx="6401100" cy="319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 Light"/>
              <a:buChar char="●"/>
              <a:defRPr sz="1000">
                <a:latin typeface="Lato Light"/>
                <a:ea typeface="Lato Light"/>
                <a:cs typeface="Lato Light"/>
                <a:sym typeface="Lato Light"/>
              </a:defRPr>
            </a:lvl1pPr>
            <a:lvl2pPr indent="-292100" lvl="1" marL="91440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Lato Light"/>
              <a:buChar char="○"/>
              <a:defRPr sz="1000">
                <a:latin typeface="Lato Light"/>
                <a:ea typeface="Lato Light"/>
                <a:cs typeface="Lato Light"/>
                <a:sym typeface="Lato Light"/>
              </a:defRPr>
            </a:lvl2pPr>
            <a:lvl3pPr indent="-292100" lvl="2" marL="137160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Lato Light"/>
              <a:buChar char="■"/>
              <a:defRPr sz="1000">
                <a:latin typeface="Lato Light"/>
                <a:ea typeface="Lato Light"/>
                <a:cs typeface="Lato Light"/>
                <a:sym typeface="Lato Light"/>
              </a:defRPr>
            </a:lvl3pPr>
            <a:lvl4pPr indent="-292100" lvl="3" marL="182880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Lato Light"/>
              <a:buChar char="●"/>
              <a:defRPr sz="1000">
                <a:latin typeface="Lato Light"/>
                <a:ea typeface="Lato Light"/>
                <a:cs typeface="Lato Light"/>
                <a:sym typeface="Lato Light"/>
              </a:defRPr>
            </a:lvl4pPr>
            <a:lvl5pPr indent="-292100" lvl="4" marL="228600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Lato Light"/>
              <a:buChar char="○"/>
              <a:defRPr sz="1000">
                <a:latin typeface="Lato Light"/>
                <a:ea typeface="Lato Light"/>
                <a:cs typeface="Lato Light"/>
                <a:sym typeface="Lato Light"/>
              </a:defRPr>
            </a:lvl5pPr>
            <a:lvl6pPr indent="-292100" lvl="5" marL="274320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Lato Light"/>
              <a:buChar char="■"/>
              <a:defRPr sz="1000">
                <a:latin typeface="Lato Light"/>
                <a:ea typeface="Lato Light"/>
                <a:cs typeface="Lato Light"/>
                <a:sym typeface="Lato Light"/>
              </a:defRPr>
            </a:lvl6pPr>
            <a:lvl7pPr indent="-292100" lvl="6" marL="320040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Lato Light"/>
              <a:buChar char="●"/>
              <a:defRPr sz="1000">
                <a:latin typeface="Lato Light"/>
                <a:ea typeface="Lato Light"/>
                <a:cs typeface="Lato Light"/>
                <a:sym typeface="Lato Light"/>
              </a:defRPr>
            </a:lvl7pPr>
            <a:lvl8pPr indent="-292100" lvl="7" marL="365760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Lato Light"/>
              <a:buChar char="○"/>
              <a:defRPr sz="1000">
                <a:latin typeface="Lato Light"/>
                <a:ea typeface="Lato Light"/>
                <a:cs typeface="Lato Light"/>
                <a:sym typeface="Lato Light"/>
              </a:defRPr>
            </a:lvl8pPr>
            <a:lvl9pPr indent="-292100" lvl="8" marL="4114800" algn="l">
              <a:lnSpc>
                <a:spcPct val="150000"/>
              </a:lnSpc>
              <a:spcBef>
                <a:spcPts val="1600"/>
              </a:spcBef>
              <a:spcAft>
                <a:spcPts val="1600"/>
              </a:spcAft>
              <a:buSzPts val="1000"/>
              <a:buFont typeface="Lato Light"/>
              <a:buChar char="■"/>
              <a:defRPr sz="1000">
                <a:latin typeface="Lato Light"/>
                <a:ea typeface="Lato Light"/>
                <a:cs typeface="Lato Light"/>
                <a:sym typeface="La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" name="Google Shape;14;p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8" name="Google Shape;18;p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4" name="Google Shape;24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" name="Google Shape;32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5" name="Google Shape;35;p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9" name="Google Shape;39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1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" name="Google Shape;43;p1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4" name="Google Shape;44;p1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5" name="Google Shape;4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8" name="Google Shape;4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p1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10.png"/><Relationship Id="rId5" Type="http://schemas.openxmlformats.org/officeDocument/2006/relationships/image" Target="../media/image2.png"/><Relationship Id="rId6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jpg"/><Relationship Id="rId4" Type="http://schemas.openxmlformats.org/officeDocument/2006/relationships/image" Target="../media/image10.png"/><Relationship Id="rId5" Type="http://schemas.openxmlformats.org/officeDocument/2006/relationships/image" Target="../media/image2.png"/><Relationship Id="rId6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jpg"/><Relationship Id="rId4" Type="http://schemas.openxmlformats.org/officeDocument/2006/relationships/image" Target="../media/image10.png"/><Relationship Id="rId5" Type="http://schemas.openxmlformats.org/officeDocument/2006/relationships/image" Target="../media/image2.png"/><Relationship Id="rId6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jpg"/><Relationship Id="rId4" Type="http://schemas.openxmlformats.org/officeDocument/2006/relationships/image" Target="../media/image10.png"/><Relationship Id="rId5" Type="http://schemas.openxmlformats.org/officeDocument/2006/relationships/image" Target="../media/image2.png"/><Relationship Id="rId6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jpg"/><Relationship Id="rId4" Type="http://schemas.openxmlformats.org/officeDocument/2006/relationships/image" Target="../media/image10.png"/><Relationship Id="rId5" Type="http://schemas.openxmlformats.org/officeDocument/2006/relationships/image" Target="../media/image2.png"/><Relationship Id="rId6" Type="http://schemas.openxmlformats.org/officeDocument/2006/relationships/image" Target="../media/image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5" Type="http://schemas.openxmlformats.org/officeDocument/2006/relationships/image" Target="../media/image8.png"/><Relationship Id="rId6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32323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/>
          <p:nvPr/>
        </p:nvSpPr>
        <p:spPr>
          <a:xfrm>
            <a:off x="7631475" y="398550"/>
            <a:ext cx="4346400" cy="4346400"/>
          </a:xfrm>
          <a:prstGeom prst="pie">
            <a:avLst>
              <a:gd fmla="val 5392061" name="adj1"/>
              <a:gd fmla="val 16238908" name="adj2"/>
            </a:avLst>
          </a:prstGeom>
          <a:solidFill>
            <a:srgbClr val="FF60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14"/>
          <p:cNvSpPr/>
          <p:nvPr/>
        </p:nvSpPr>
        <p:spPr>
          <a:xfrm>
            <a:off x="5508450" y="398550"/>
            <a:ext cx="4346400" cy="4346400"/>
          </a:xfrm>
          <a:prstGeom prst="pie">
            <a:avLst>
              <a:gd fmla="val 5392061" name="adj1"/>
              <a:gd fmla="val 16238908" name="adj2"/>
            </a:avLst>
          </a:prstGeom>
          <a:solidFill>
            <a:srgbClr val="FF60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14"/>
          <p:cNvSpPr/>
          <p:nvPr/>
        </p:nvSpPr>
        <p:spPr>
          <a:xfrm rot="-5400000">
            <a:off x="-103275" y="3385250"/>
            <a:ext cx="1947900" cy="1947900"/>
          </a:xfrm>
          <a:prstGeom prst="pie">
            <a:avLst>
              <a:gd fmla="val 5392061" name="adj1"/>
              <a:gd fmla="val 16238908" name="adj2"/>
            </a:avLst>
          </a:prstGeom>
          <a:solidFill>
            <a:srgbClr val="FEF7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14"/>
          <p:cNvSpPr/>
          <p:nvPr/>
        </p:nvSpPr>
        <p:spPr>
          <a:xfrm rot="5400000">
            <a:off x="1639450" y="4575975"/>
            <a:ext cx="1947900" cy="1947900"/>
          </a:xfrm>
          <a:prstGeom prst="pie">
            <a:avLst>
              <a:gd fmla="val 5392061" name="adj1"/>
              <a:gd fmla="val 16238908" name="adj2"/>
            </a:avLst>
          </a:prstGeom>
          <a:solidFill>
            <a:srgbClr val="FF60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14"/>
          <p:cNvSpPr/>
          <p:nvPr/>
        </p:nvSpPr>
        <p:spPr>
          <a:xfrm rot="5400000">
            <a:off x="2497388" y="3912950"/>
            <a:ext cx="2358300" cy="2446500"/>
          </a:xfrm>
          <a:prstGeom prst="pie">
            <a:avLst>
              <a:gd fmla="val 10761822" name="adj1"/>
              <a:gd fmla="val 16186354" name="adj2"/>
            </a:avLst>
          </a:prstGeom>
          <a:noFill/>
          <a:ln cap="flat" cmpd="sng" w="19050">
            <a:solidFill>
              <a:srgbClr val="FEF7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14"/>
          <p:cNvSpPr txBox="1"/>
          <p:nvPr/>
        </p:nvSpPr>
        <p:spPr>
          <a:xfrm>
            <a:off x="654850" y="1349375"/>
            <a:ext cx="3917100" cy="24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1" lang="pt-BR" sz="5400">
                <a:solidFill>
                  <a:srgbClr val="FEF7EE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MANUAL DE BOAS PRÁTICAS PARA USO DE IA</a:t>
            </a:r>
            <a:endParaRPr b="1" i="1" sz="5400" u="none" cap="none" strike="noStrike">
              <a:solidFill>
                <a:srgbClr val="FEF7EE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63" name="Google Shape;63;p14"/>
          <p:cNvSpPr txBox="1"/>
          <p:nvPr/>
        </p:nvSpPr>
        <p:spPr>
          <a:xfrm>
            <a:off x="654850" y="3653925"/>
            <a:ext cx="3917100" cy="4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rgbClr val="FEF7EE"/>
                </a:solidFill>
                <a:latin typeface="Barlow Medium"/>
                <a:ea typeface="Barlow Medium"/>
                <a:cs typeface="Barlow Medium"/>
                <a:sym typeface="Barlow Medium"/>
              </a:rPr>
              <a:t>202</a:t>
            </a:r>
            <a:r>
              <a:rPr lang="pt-BR" sz="1600">
                <a:solidFill>
                  <a:srgbClr val="FEF7EE"/>
                </a:solidFill>
                <a:latin typeface="Barlow Medium"/>
                <a:ea typeface="Barlow Medium"/>
                <a:cs typeface="Barlow Medium"/>
                <a:sym typeface="Barlow Medium"/>
              </a:rPr>
              <a:t>6.1</a:t>
            </a:r>
            <a:r>
              <a:rPr b="0" i="0" lang="pt-BR" sz="1600" u="none" cap="none" strike="noStrike">
                <a:solidFill>
                  <a:srgbClr val="FEF7EE"/>
                </a:solidFill>
                <a:latin typeface="Barlow Medium"/>
                <a:ea typeface="Barlow Medium"/>
                <a:cs typeface="Barlow Medium"/>
                <a:sym typeface="Barlow Medium"/>
              </a:rPr>
              <a:t> | </a:t>
            </a:r>
            <a:r>
              <a:rPr lang="pt-BR" sz="1600">
                <a:solidFill>
                  <a:srgbClr val="FEF7EE"/>
                </a:solidFill>
                <a:latin typeface="Barlow Medium"/>
                <a:ea typeface="Barlow Medium"/>
                <a:cs typeface="Barlow Medium"/>
                <a:sym typeface="Barlow Medium"/>
              </a:rPr>
              <a:t>CESAR School</a:t>
            </a:r>
            <a:endParaRPr b="0" i="0" sz="1600" u="none" cap="none" strike="noStrike">
              <a:solidFill>
                <a:srgbClr val="FEF7EE"/>
              </a:solidFill>
              <a:latin typeface="Barlow Medium"/>
              <a:ea typeface="Barlow Medium"/>
              <a:cs typeface="Barlow Medium"/>
              <a:sym typeface="Barlow Medium"/>
            </a:endParaRPr>
          </a:p>
        </p:txBody>
      </p:sp>
      <p:pic>
        <p:nvPicPr>
          <p:cNvPr id="64" name="Google Shape;64;p14"/>
          <p:cNvPicPr preferRelativeResize="0"/>
          <p:nvPr/>
        </p:nvPicPr>
        <p:blipFill rotWithShape="1">
          <a:blip r:embed="rId3">
            <a:alphaModFix/>
          </a:blip>
          <a:srcRect b="29" l="0" r="0" t="29"/>
          <a:stretch/>
        </p:blipFill>
        <p:spPr>
          <a:xfrm>
            <a:off x="755925" y="657575"/>
            <a:ext cx="556575" cy="4971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7EE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/>
          <p:nvPr/>
        </p:nvSpPr>
        <p:spPr>
          <a:xfrm rot="-5400000">
            <a:off x="8818225" y="2618575"/>
            <a:ext cx="1775400" cy="1749000"/>
          </a:xfrm>
          <a:prstGeom prst="pie">
            <a:avLst>
              <a:gd fmla="val 10751802" name="adj1"/>
              <a:gd fmla="val 16209164" name="adj2"/>
            </a:avLst>
          </a:prstGeom>
          <a:noFill/>
          <a:ln cap="flat" cmpd="sng" w="19050">
            <a:solidFill>
              <a:srgbClr val="FF600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0" name="Google Shape;70;p15"/>
          <p:cNvPicPr preferRelativeResize="0"/>
          <p:nvPr/>
        </p:nvPicPr>
        <p:blipFill rotWithShape="1">
          <a:blip r:embed="rId3">
            <a:alphaModFix/>
          </a:blip>
          <a:srcRect b="0" l="9667" r="29914" t="0"/>
          <a:stretch/>
        </p:blipFill>
        <p:spPr>
          <a:xfrm flipH="1">
            <a:off x="5487850" y="-34775"/>
            <a:ext cx="3150900" cy="5215200"/>
          </a:xfrm>
          <a:prstGeom prst="round1Rect">
            <a:avLst>
              <a:gd fmla="val 37521" name="adj"/>
            </a:avLst>
          </a:prstGeom>
          <a:noFill/>
          <a:ln>
            <a:noFill/>
          </a:ln>
        </p:spPr>
      </p:pic>
      <p:sp>
        <p:nvSpPr>
          <p:cNvPr id="71" name="Google Shape;71;p15"/>
          <p:cNvSpPr/>
          <p:nvPr/>
        </p:nvSpPr>
        <p:spPr>
          <a:xfrm rot="5400000">
            <a:off x="6966450" y="4089650"/>
            <a:ext cx="2055300" cy="2094900"/>
          </a:xfrm>
          <a:prstGeom prst="pie">
            <a:avLst>
              <a:gd fmla="val 10761822" name="adj1"/>
              <a:gd fmla="val 16209164" name="adj2"/>
            </a:avLst>
          </a:prstGeom>
          <a:solidFill>
            <a:srgbClr val="FB6B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15"/>
          <p:cNvSpPr/>
          <p:nvPr/>
        </p:nvSpPr>
        <p:spPr>
          <a:xfrm rot="5400000">
            <a:off x="1091950" y="221950"/>
            <a:ext cx="763200" cy="29472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FB6B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15"/>
          <p:cNvSpPr txBox="1"/>
          <p:nvPr/>
        </p:nvSpPr>
        <p:spPr>
          <a:xfrm>
            <a:off x="527275" y="2196200"/>
            <a:ext cx="4347300" cy="19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pt-BR" sz="13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Este manual tem como objetivo orientar estudantes do 1º período das graduações da CESAR School quanto ao uso </a:t>
            </a:r>
            <a:r>
              <a:rPr b="1" lang="pt-BR" sz="13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seguro</a:t>
            </a:r>
            <a:r>
              <a:rPr lang="pt-BR" sz="13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, </a:t>
            </a:r>
            <a:r>
              <a:rPr b="1" lang="pt-BR" sz="13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ético</a:t>
            </a:r>
            <a:r>
              <a:rPr lang="pt-BR" sz="13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 e </a:t>
            </a:r>
            <a:r>
              <a:rPr b="1" lang="pt-BR" sz="13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saudável</a:t>
            </a:r>
            <a:r>
              <a:rPr lang="pt-BR" sz="13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 de ferramentas de Inteligência Artificial (IA).</a:t>
            </a:r>
            <a:endParaRPr sz="13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pt-BR" sz="13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As diretrizes aqui apresentadas estão alinhadas tanto aos </a:t>
            </a:r>
            <a:r>
              <a:rPr b="1" lang="pt-BR" sz="13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Planos de Ensino</a:t>
            </a:r>
            <a:r>
              <a:rPr lang="pt-BR" sz="13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 das disciplinas quanto às </a:t>
            </a:r>
            <a:r>
              <a:rPr b="1" lang="pt-BR" sz="13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orientações de segurança</a:t>
            </a:r>
            <a:r>
              <a:rPr lang="pt-BR" sz="13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 do manual do CESAR.</a:t>
            </a:r>
            <a:endParaRPr i="0" sz="1300" u="none" cap="none" strike="noStrike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74" name="Google Shape;74;p15"/>
          <p:cNvSpPr txBox="1"/>
          <p:nvPr/>
        </p:nvSpPr>
        <p:spPr>
          <a:xfrm>
            <a:off x="527275" y="1418375"/>
            <a:ext cx="2547000" cy="59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1" lang="pt-BR" sz="3300">
                <a:solidFill>
                  <a:srgbClr val="191919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APRESENTAÇÃO</a:t>
            </a:r>
            <a:endParaRPr b="0" i="0" sz="100" u="none" cap="none" strike="noStrike">
              <a:solidFill>
                <a:srgbClr val="19191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15"/>
          <p:cNvSpPr txBox="1"/>
          <p:nvPr/>
        </p:nvSpPr>
        <p:spPr>
          <a:xfrm>
            <a:off x="5679125" y="4722450"/>
            <a:ext cx="2295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i="1" lang="pt-BR" sz="1100">
                <a:solidFill>
                  <a:schemeClr val="lt1"/>
                </a:solidFill>
                <a:highlight>
                  <a:srgbClr val="435D74"/>
                </a:highlight>
              </a:rPr>
              <a:t>Imagem gerada por Leonardo.AI</a:t>
            </a:r>
            <a:endParaRPr i="1">
              <a:solidFill>
                <a:schemeClr val="lt1"/>
              </a:solidFill>
              <a:highlight>
                <a:srgbClr val="435D74"/>
              </a:highlight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7EE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/>
        </p:nvSpPr>
        <p:spPr>
          <a:xfrm>
            <a:off x="675425" y="909400"/>
            <a:ext cx="3207900" cy="6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</a:pPr>
            <a:r>
              <a:rPr b="1" lang="pt-BR" sz="3900">
                <a:solidFill>
                  <a:srgbClr val="191919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OBJETIVOS</a:t>
            </a:r>
            <a:endParaRPr b="1" i="0" sz="3900" u="none" cap="none" strike="noStrike">
              <a:solidFill>
                <a:srgbClr val="191919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81" name="Google Shape;81;p16"/>
          <p:cNvSpPr txBox="1"/>
          <p:nvPr/>
        </p:nvSpPr>
        <p:spPr>
          <a:xfrm>
            <a:off x="675425" y="2196150"/>
            <a:ext cx="23652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FF600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PROMOVER A CONSCIENTIZAÇÃO</a:t>
            </a:r>
            <a:r>
              <a:rPr lang="pt-BR" sz="1800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 sobre a importância de desenvolver habilidades e competências fundamentais, sem </a:t>
            </a:r>
            <a:r>
              <a:rPr b="1" lang="pt-BR" sz="1800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substituir</a:t>
            </a:r>
            <a:r>
              <a:rPr lang="pt-BR" sz="1800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 a inteligência e autoria humana pelas soluções de IA.</a:t>
            </a:r>
            <a:endParaRPr sz="1800"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82" name="Google Shape;82;p16"/>
          <p:cNvSpPr txBox="1"/>
          <p:nvPr/>
        </p:nvSpPr>
        <p:spPr>
          <a:xfrm>
            <a:off x="3389400" y="2196150"/>
            <a:ext cx="23652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FF600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ORIENTAR</a:t>
            </a:r>
            <a:r>
              <a:rPr lang="pt-BR" sz="1800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 quanto aos cuidados e boas práticas de uso de IA, destacando a importância de proteger dados sensíveis e respeitar direitos autorais.</a:t>
            </a:r>
            <a:endParaRPr sz="1800"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83" name="Google Shape;83;p16"/>
          <p:cNvSpPr txBox="1"/>
          <p:nvPr/>
        </p:nvSpPr>
        <p:spPr>
          <a:xfrm>
            <a:off x="6103375" y="2196150"/>
            <a:ext cx="23652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FF600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CONTRIBUIR</a:t>
            </a:r>
            <a:r>
              <a:rPr lang="pt-BR" sz="1800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 para a formação de profissionais capazes de </a:t>
            </a:r>
            <a:r>
              <a:rPr b="1" lang="pt-BR" sz="1800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resolver problemas</a:t>
            </a:r>
            <a:r>
              <a:rPr lang="pt-BR" sz="1800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 de forma autônoma e criativa, compreendendo o papel da IA como ferramenta de apoio e otimização.</a:t>
            </a:r>
            <a:endParaRPr sz="1800"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84" name="Google Shape;84;p16"/>
          <p:cNvSpPr/>
          <p:nvPr/>
        </p:nvSpPr>
        <p:spPr>
          <a:xfrm flipH="1" rot="5400000">
            <a:off x="4068950" y="814575"/>
            <a:ext cx="266700" cy="8404200"/>
          </a:xfrm>
          <a:prstGeom prst="round1Rect">
            <a:avLst>
              <a:gd fmla="val 41768" name="adj"/>
            </a:avLst>
          </a:prstGeom>
          <a:solidFill>
            <a:srgbClr val="FF60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6"/>
          <p:cNvSpPr/>
          <p:nvPr/>
        </p:nvSpPr>
        <p:spPr>
          <a:xfrm>
            <a:off x="3611550" y="-2224575"/>
            <a:ext cx="4057800" cy="3840900"/>
          </a:xfrm>
          <a:prstGeom prst="pie">
            <a:avLst>
              <a:gd fmla="val 5392061" name="adj1"/>
              <a:gd fmla="val 10790918" name="adj2"/>
            </a:avLst>
          </a:prstGeom>
          <a:solidFill>
            <a:srgbClr val="FB6B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6"/>
          <p:cNvSpPr/>
          <p:nvPr/>
        </p:nvSpPr>
        <p:spPr>
          <a:xfrm>
            <a:off x="5737844" y="-2224575"/>
            <a:ext cx="3840900" cy="3840900"/>
          </a:xfrm>
          <a:prstGeom prst="pie">
            <a:avLst>
              <a:gd fmla="val 21585769" name="adj1"/>
              <a:gd fmla="val 10790918" name="adj2"/>
            </a:avLst>
          </a:prstGeom>
          <a:solidFill>
            <a:srgbClr val="FB6B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7EE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7" title="ChatGPT Image 13 de ago. de 2025, 23_03_36.png"/>
          <p:cNvPicPr preferRelativeResize="0"/>
          <p:nvPr/>
        </p:nvPicPr>
        <p:blipFill rotWithShape="1">
          <a:blip r:embed="rId3">
            <a:alphaModFix/>
          </a:blip>
          <a:srcRect b="0" l="2489" r="2499" t="0"/>
          <a:stretch/>
        </p:blipFill>
        <p:spPr>
          <a:xfrm>
            <a:off x="5340150" y="0"/>
            <a:ext cx="3257976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7"/>
          <p:cNvPicPr preferRelativeResize="0"/>
          <p:nvPr/>
        </p:nvPicPr>
        <p:blipFill rotWithShape="1">
          <a:blip r:embed="rId4">
            <a:alphaModFix/>
          </a:blip>
          <a:srcRect b="4955" l="0" r="0" t="4946"/>
          <a:stretch/>
        </p:blipFill>
        <p:spPr>
          <a:xfrm>
            <a:off x="0" y="0"/>
            <a:ext cx="565579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7"/>
          <p:cNvSpPr txBox="1"/>
          <p:nvPr/>
        </p:nvSpPr>
        <p:spPr>
          <a:xfrm>
            <a:off x="654850" y="1807025"/>
            <a:ext cx="3917100" cy="16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1" lang="pt-BR" sz="5400">
                <a:solidFill>
                  <a:srgbClr val="FF600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VISÃO GERAL SOBRE IA</a:t>
            </a:r>
            <a:endParaRPr b="1" i="1" sz="5400" u="none" cap="none" strike="noStrike">
              <a:solidFill>
                <a:srgbClr val="FF600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pic>
        <p:nvPicPr>
          <p:cNvPr id="94" name="Google Shape;94;p17"/>
          <p:cNvPicPr preferRelativeResize="0"/>
          <p:nvPr/>
        </p:nvPicPr>
        <p:blipFill rotWithShape="1">
          <a:blip r:embed="rId5">
            <a:alphaModFix/>
          </a:blip>
          <a:srcRect b="0" l="0" r="38008" t="0"/>
          <a:stretch/>
        </p:blipFill>
        <p:spPr>
          <a:xfrm>
            <a:off x="8262075" y="0"/>
            <a:ext cx="881925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7"/>
          <p:cNvSpPr/>
          <p:nvPr/>
        </p:nvSpPr>
        <p:spPr>
          <a:xfrm rot="5400000">
            <a:off x="7957625" y="2592400"/>
            <a:ext cx="1513500" cy="1513500"/>
          </a:xfrm>
          <a:prstGeom prst="pie">
            <a:avLst>
              <a:gd fmla="val 5392061" name="adj1"/>
              <a:gd fmla="val 16238908" name="adj2"/>
            </a:avLst>
          </a:prstGeom>
          <a:solidFill>
            <a:srgbClr val="FF60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7"/>
          <p:cNvSpPr/>
          <p:nvPr/>
        </p:nvSpPr>
        <p:spPr>
          <a:xfrm rot="5400000">
            <a:off x="7979275" y="1807025"/>
            <a:ext cx="1513500" cy="1513500"/>
          </a:xfrm>
          <a:prstGeom prst="pie">
            <a:avLst>
              <a:gd fmla="val 5392061" name="adj1"/>
              <a:gd fmla="val 16238908" name="adj2"/>
            </a:avLst>
          </a:prstGeom>
          <a:solidFill>
            <a:srgbClr val="2323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7"/>
          <p:cNvSpPr/>
          <p:nvPr/>
        </p:nvSpPr>
        <p:spPr>
          <a:xfrm rot="5400000">
            <a:off x="3637150" y="3912950"/>
            <a:ext cx="2358300" cy="2446500"/>
          </a:xfrm>
          <a:prstGeom prst="pie">
            <a:avLst>
              <a:gd fmla="val 10761822" name="adj1"/>
              <a:gd fmla="val 16186354" name="adj2"/>
            </a:avLst>
          </a:prstGeom>
          <a:noFill/>
          <a:ln cap="flat" cmpd="sng" w="19050">
            <a:solidFill>
              <a:srgbClr val="FFB1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8" name="Google Shape;98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55925" y="657575"/>
            <a:ext cx="556575" cy="496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7EE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8"/>
          <p:cNvSpPr txBox="1"/>
          <p:nvPr/>
        </p:nvSpPr>
        <p:spPr>
          <a:xfrm>
            <a:off x="1515250" y="1828950"/>
            <a:ext cx="3091200" cy="27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Inteligência Artificial (IA) é um conjunto de técnicas que, dadas metas definidas por pessoas, transforma dados em previsões, recomendações ou decisões</a:t>
            </a:r>
            <a:endParaRPr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Sistemas que usam IA podem ser capazes de simular a inteligência </a:t>
            </a:r>
            <a:r>
              <a:rPr b="1" lang="pt-BR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humana</a:t>
            </a:r>
            <a:r>
              <a:rPr lang="pt-BR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 ou </a:t>
            </a:r>
            <a:r>
              <a:rPr b="1" lang="pt-BR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natural</a:t>
            </a:r>
            <a:r>
              <a:rPr lang="pt-BR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, permitindo que executem tarefas que normalmente exigem inteligência humana</a:t>
            </a:r>
            <a:endParaRPr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04" name="Google Shape;104;p18"/>
          <p:cNvSpPr/>
          <p:nvPr/>
        </p:nvSpPr>
        <p:spPr>
          <a:xfrm>
            <a:off x="831625" y="1854746"/>
            <a:ext cx="494100" cy="776400"/>
          </a:xfrm>
          <a:prstGeom prst="roundRect">
            <a:avLst>
              <a:gd fmla="val 50000" name="adj"/>
            </a:avLst>
          </a:prstGeom>
          <a:solidFill>
            <a:srgbClr val="FF600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8"/>
          <p:cNvSpPr/>
          <p:nvPr/>
        </p:nvSpPr>
        <p:spPr>
          <a:xfrm rot="10800000">
            <a:off x="4860771" y="1936046"/>
            <a:ext cx="529200" cy="529200"/>
          </a:xfrm>
          <a:prstGeom prst="ellipse">
            <a:avLst/>
          </a:prstGeom>
          <a:solidFill>
            <a:srgbClr val="FF600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8"/>
          <p:cNvSpPr txBox="1"/>
          <p:nvPr/>
        </p:nvSpPr>
        <p:spPr>
          <a:xfrm>
            <a:off x="5563375" y="1828950"/>
            <a:ext cx="2826000" cy="13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A popularização atual da IA ocorre principalmente por conta das aplicações baseadas em </a:t>
            </a:r>
            <a:r>
              <a:rPr b="1" lang="pt-BR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aprendizado de máquina</a:t>
            </a:r>
            <a:r>
              <a:rPr lang="pt-BR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 (ML) e </a:t>
            </a:r>
            <a:r>
              <a:rPr b="1" lang="pt-BR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modelos de linguagem</a:t>
            </a:r>
            <a:r>
              <a:rPr lang="pt-BR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 (LLMs)</a:t>
            </a:r>
            <a:endParaRPr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07" name="Google Shape;107;p18"/>
          <p:cNvSpPr txBox="1"/>
          <p:nvPr/>
        </p:nvSpPr>
        <p:spPr>
          <a:xfrm>
            <a:off x="754600" y="776025"/>
            <a:ext cx="4347300" cy="6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</a:pPr>
            <a:r>
              <a:rPr b="1" lang="pt-BR" sz="3900">
                <a:solidFill>
                  <a:srgbClr val="FF600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O que é IA?</a:t>
            </a:r>
            <a:endParaRPr sz="700">
              <a:solidFill>
                <a:srgbClr val="FF6002"/>
              </a:solidFill>
            </a:endParaRPr>
          </a:p>
        </p:txBody>
      </p:sp>
      <p:sp>
        <p:nvSpPr>
          <p:cNvPr id="108" name="Google Shape;108;p18"/>
          <p:cNvSpPr/>
          <p:nvPr/>
        </p:nvSpPr>
        <p:spPr>
          <a:xfrm>
            <a:off x="6369950" y="-2210975"/>
            <a:ext cx="4057800" cy="3840900"/>
          </a:xfrm>
          <a:prstGeom prst="pie">
            <a:avLst>
              <a:gd fmla="val 5392061" name="adj1"/>
              <a:gd fmla="val 10790918" name="adj2"/>
            </a:avLst>
          </a:prstGeom>
          <a:solidFill>
            <a:srgbClr val="2323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8"/>
          <p:cNvSpPr/>
          <p:nvPr/>
        </p:nvSpPr>
        <p:spPr>
          <a:xfrm>
            <a:off x="8618900" y="-2210975"/>
            <a:ext cx="4057800" cy="3840900"/>
          </a:xfrm>
          <a:prstGeom prst="pie">
            <a:avLst>
              <a:gd fmla="val 5392061" name="adj1"/>
              <a:gd fmla="val 10790918" name="adj2"/>
            </a:avLst>
          </a:prstGeom>
          <a:solidFill>
            <a:srgbClr val="2323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8"/>
          <p:cNvSpPr/>
          <p:nvPr/>
        </p:nvSpPr>
        <p:spPr>
          <a:xfrm flipH="1">
            <a:off x="-3415675" y="2455350"/>
            <a:ext cx="4057800" cy="3840900"/>
          </a:xfrm>
          <a:prstGeom prst="pie">
            <a:avLst>
              <a:gd fmla="val 5392061" name="adj1"/>
              <a:gd fmla="val 10790918" name="adj2"/>
            </a:avLst>
          </a:prstGeom>
          <a:solidFill>
            <a:srgbClr val="2323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8"/>
          <p:cNvSpPr/>
          <p:nvPr/>
        </p:nvSpPr>
        <p:spPr>
          <a:xfrm flipH="1">
            <a:off x="-1227450" y="2982425"/>
            <a:ext cx="4057800" cy="3840900"/>
          </a:xfrm>
          <a:prstGeom prst="pie">
            <a:avLst>
              <a:gd fmla="val 5392061" name="adj1"/>
              <a:gd fmla="val 10790918" name="adj2"/>
            </a:avLst>
          </a:prstGeom>
          <a:solidFill>
            <a:srgbClr val="FF60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7EE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9"/>
          <p:cNvSpPr/>
          <p:nvPr/>
        </p:nvSpPr>
        <p:spPr>
          <a:xfrm flipH="1">
            <a:off x="-1227450" y="2982425"/>
            <a:ext cx="4057800" cy="3840900"/>
          </a:xfrm>
          <a:prstGeom prst="pie">
            <a:avLst>
              <a:gd fmla="val 5392061" name="adj1"/>
              <a:gd fmla="val 10790918" name="adj2"/>
            </a:avLst>
          </a:prstGeom>
          <a:solidFill>
            <a:srgbClr val="FF60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9"/>
          <p:cNvSpPr txBox="1"/>
          <p:nvPr/>
        </p:nvSpPr>
        <p:spPr>
          <a:xfrm>
            <a:off x="1515250" y="2286150"/>
            <a:ext cx="2826000" cy="9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pt-BR"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iFood</a:t>
            </a:r>
            <a:endParaRPr b="1" sz="12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Modelos recomendam restaurantes e ofertas conforme histórico e contexto</a:t>
            </a:r>
            <a:endParaRPr sz="12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18" name="Google Shape;118;p19"/>
          <p:cNvSpPr/>
          <p:nvPr/>
        </p:nvSpPr>
        <p:spPr>
          <a:xfrm>
            <a:off x="831625" y="2311946"/>
            <a:ext cx="494100" cy="776400"/>
          </a:xfrm>
          <a:prstGeom prst="roundRect">
            <a:avLst>
              <a:gd fmla="val 50000" name="adj"/>
            </a:avLst>
          </a:prstGeom>
          <a:solidFill>
            <a:srgbClr val="FF600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9" name="Google Shape;119;p19"/>
          <p:cNvGrpSpPr/>
          <p:nvPr/>
        </p:nvGrpSpPr>
        <p:grpSpPr>
          <a:xfrm>
            <a:off x="834804" y="3728997"/>
            <a:ext cx="487782" cy="631985"/>
            <a:chOff x="1824779" y="2909234"/>
            <a:chExt cx="487782" cy="631985"/>
          </a:xfrm>
        </p:grpSpPr>
        <p:sp>
          <p:nvSpPr>
            <p:cNvPr id="120" name="Google Shape;120;p19"/>
            <p:cNvSpPr/>
            <p:nvPr/>
          </p:nvSpPr>
          <p:spPr>
            <a:xfrm rot="-5400000">
              <a:off x="1946711" y="2787302"/>
              <a:ext cx="243918" cy="487782"/>
            </a:xfrm>
            <a:custGeom>
              <a:rect b="b" l="l" r="r" t="t"/>
              <a:pathLst>
                <a:path extrusionOk="0" h="21600" w="21600">
                  <a:moveTo>
                    <a:pt x="0" y="21600"/>
                  </a:moveTo>
                  <a:cubicBezTo>
                    <a:pt x="11927" y="21600"/>
                    <a:pt x="21600" y="16764"/>
                    <a:pt x="21600" y="10800"/>
                  </a:cubicBezTo>
                  <a:cubicBezTo>
                    <a:pt x="21600" y="4836"/>
                    <a:pt x="11927" y="0"/>
                    <a:pt x="0" y="0"/>
                  </a:cubicBezTo>
                  <a:lnTo>
                    <a:pt x="0" y="21600"/>
                  </a:lnTo>
                  <a:close/>
                </a:path>
              </a:pathLst>
            </a:custGeom>
            <a:solidFill>
              <a:srgbClr val="FF6002"/>
            </a:solidFill>
            <a:ln>
              <a:noFill/>
            </a:ln>
          </p:spPr>
          <p:txBody>
            <a:bodyPr anchorCtr="0" anchor="ctr" bIns="67725" lIns="67725" spcFirstLastPara="1" rIns="67725" wrap="square" tIns="677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4300"/>
                <a:buFont typeface="Helvetica Neue"/>
                <a:buNone/>
              </a:pPr>
              <a:r>
                <a:t/>
              </a:r>
              <a:endParaRPr b="0" i="0" sz="43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21" name="Google Shape;121;p19"/>
            <p:cNvSpPr/>
            <p:nvPr/>
          </p:nvSpPr>
          <p:spPr>
            <a:xfrm rot="-5400000">
              <a:off x="1946711" y="3175369"/>
              <a:ext cx="243918" cy="487782"/>
            </a:xfrm>
            <a:custGeom>
              <a:rect b="b" l="l" r="r" t="t"/>
              <a:pathLst>
                <a:path extrusionOk="0" h="21600" w="21600">
                  <a:moveTo>
                    <a:pt x="0" y="21600"/>
                  </a:moveTo>
                  <a:cubicBezTo>
                    <a:pt x="11927" y="21600"/>
                    <a:pt x="21600" y="16764"/>
                    <a:pt x="21600" y="10800"/>
                  </a:cubicBezTo>
                  <a:cubicBezTo>
                    <a:pt x="21600" y="4836"/>
                    <a:pt x="11927" y="0"/>
                    <a:pt x="0" y="0"/>
                  </a:cubicBezTo>
                  <a:lnTo>
                    <a:pt x="0" y="21600"/>
                  </a:lnTo>
                  <a:close/>
                </a:path>
              </a:pathLst>
            </a:custGeom>
            <a:solidFill>
              <a:srgbClr val="FF6002"/>
            </a:solidFill>
            <a:ln>
              <a:noFill/>
            </a:ln>
          </p:spPr>
          <p:txBody>
            <a:bodyPr anchorCtr="0" anchor="ctr" bIns="67725" lIns="67725" spcFirstLastPara="1" rIns="67725" wrap="square" tIns="677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4300"/>
                <a:buFont typeface="Helvetica Neue"/>
                <a:buNone/>
              </a:pPr>
              <a:r>
                <a:t/>
              </a:r>
              <a:endParaRPr b="0" i="0" sz="43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122" name="Google Shape;122;p19"/>
          <p:cNvGrpSpPr/>
          <p:nvPr/>
        </p:nvGrpSpPr>
        <p:grpSpPr>
          <a:xfrm>
            <a:off x="4881485" y="3728989"/>
            <a:ext cx="487782" cy="631985"/>
            <a:chOff x="6810747" y="2909239"/>
            <a:chExt cx="487782" cy="631985"/>
          </a:xfrm>
        </p:grpSpPr>
        <p:sp>
          <p:nvSpPr>
            <p:cNvPr id="123" name="Google Shape;123;p19"/>
            <p:cNvSpPr/>
            <p:nvPr/>
          </p:nvSpPr>
          <p:spPr>
            <a:xfrm rot="5400000">
              <a:off x="6932679" y="3175374"/>
              <a:ext cx="243918" cy="487782"/>
            </a:xfrm>
            <a:custGeom>
              <a:rect b="b" l="l" r="r" t="t"/>
              <a:pathLst>
                <a:path extrusionOk="0" h="21600" w="21600">
                  <a:moveTo>
                    <a:pt x="0" y="21600"/>
                  </a:moveTo>
                  <a:cubicBezTo>
                    <a:pt x="11927" y="21600"/>
                    <a:pt x="21600" y="16764"/>
                    <a:pt x="21600" y="10800"/>
                  </a:cubicBezTo>
                  <a:cubicBezTo>
                    <a:pt x="21600" y="4836"/>
                    <a:pt x="11927" y="0"/>
                    <a:pt x="0" y="0"/>
                  </a:cubicBezTo>
                  <a:lnTo>
                    <a:pt x="0" y="21600"/>
                  </a:lnTo>
                  <a:close/>
                </a:path>
              </a:pathLst>
            </a:custGeom>
            <a:solidFill>
              <a:srgbClr val="FF6002"/>
            </a:solidFill>
            <a:ln>
              <a:noFill/>
            </a:ln>
          </p:spPr>
          <p:txBody>
            <a:bodyPr anchorCtr="0" anchor="ctr" bIns="67725" lIns="67725" spcFirstLastPara="1" rIns="67725" wrap="square" tIns="677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4300"/>
                <a:buFont typeface="Helvetica Neue"/>
                <a:buNone/>
              </a:pPr>
              <a:r>
                <a:t/>
              </a:r>
              <a:endParaRPr b="0" i="0" sz="43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24" name="Google Shape;124;p19"/>
            <p:cNvSpPr/>
            <p:nvPr/>
          </p:nvSpPr>
          <p:spPr>
            <a:xfrm rot="5400000">
              <a:off x="6932679" y="2787307"/>
              <a:ext cx="243918" cy="487782"/>
            </a:xfrm>
            <a:custGeom>
              <a:rect b="b" l="l" r="r" t="t"/>
              <a:pathLst>
                <a:path extrusionOk="0" h="21600" w="21600">
                  <a:moveTo>
                    <a:pt x="0" y="21600"/>
                  </a:moveTo>
                  <a:cubicBezTo>
                    <a:pt x="11927" y="21600"/>
                    <a:pt x="21600" y="16764"/>
                    <a:pt x="21600" y="10800"/>
                  </a:cubicBezTo>
                  <a:cubicBezTo>
                    <a:pt x="21600" y="4836"/>
                    <a:pt x="11927" y="0"/>
                    <a:pt x="0" y="0"/>
                  </a:cubicBezTo>
                  <a:lnTo>
                    <a:pt x="0" y="21600"/>
                  </a:lnTo>
                  <a:close/>
                </a:path>
              </a:pathLst>
            </a:custGeom>
            <a:solidFill>
              <a:srgbClr val="FF6002"/>
            </a:solidFill>
            <a:ln>
              <a:noFill/>
            </a:ln>
          </p:spPr>
          <p:txBody>
            <a:bodyPr anchorCtr="0" anchor="ctr" bIns="67725" lIns="67725" spcFirstLastPara="1" rIns="67725" wrap="square" tIns="677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4300"/>
                <a:buFont typeface="Helvetica Neue"/>
                <a:buNone/>
              </a:pPr>
              <a:r>
                <a:t/>
              </a:r>
              <a:endParaRPr b="0" i="0" sz="43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sp>
        <p:nvSpPr>
          <p:cNvPr id="125" name="Google Shape;125;p19"/>
          <p:cNvSpPr/>
          <p:nvPr/>
        </p:nvSpPr>
        <p:spPr>
          <a:xfrm rot="10800000">
            <a:off x="4860771" y="2393246"/>
            <a:ext cx="529200" cy="529200"/>
          </a:xfrm>
          <a:prstGeom prst="ellipse">
            <a:avLst/>
          </a:prstGeom>
          <a:solidFill>
            <a:srgbClr val="FF600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9"/>
          <p:cNvSpPr txBox="1"/>
          <p:nvPr/>
        </p:nvSpPr>
        <p:spPr>
          <a:xfrm>
            <a:off x="1515250" y="3673275"/>
            <a:ext cx="2826000" cy="9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pt-BR"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Waze</a:t>
            </a:r>
            <a:endParaRPr b="1" sz="12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Dados de usuários + ML para rotas e estimativas de tempo</a:t>
            </a:r>
            <a:endParaRPr sz="12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27" name="Google Shape;127;p19"/>
          <p:cNvSpPr txBox="1"/>
          <p:nvPr/>
        </p:nvSpPr>
        <p:spPr>
          <a:xfrm>
            <a:off x="5563375" y="2286150"/>
            <a:ext cx="2826000" cy="9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Instagram</a:t>
            </a:r>
            <a:endParaRPr b="1" sz="12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Vários algoritmos de ranking para Feed, Reels e Explorar</a:t>
            </a:r>
            <a:endParaRPr sz="12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28" name="Google Shape;128;p19"/>
          <p:cNvSpPr txBox="1"/>
          <p:nvPr/>
        </p:nvSpPr>
        <p:spPr>
          <a:xfrm>
            <a:off x="5563375" y="3673275"/>
            <a:ext cx="2826000" cy="11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Netflix</a:t>
            </a:r>
            <a:endParaRPr b="1" sz="12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Sistema de recomendação </a:t>
            </a:r>
            <a:r>
              <a:rPr lang="pt-BR"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personalizada</a:t>
            </a:r>
            <a:r>
              <a:rPr lang="pt-BR"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 para catálogo e posição na tela</a:t>
            </a:r>
            <a:endParaRPr sz="12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29" name="Google Shape;129;p19"/>
          <p:cNvSpPr txBox="1"/>
          <p:nvPr/>
        </p:nvSpPr>
        <p:spPr>
          <a:xfrm>
            <a:off x="754600" y="852225"/>
            <a:ext cx="4961100" cy="6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</a:pPr>
            <a:r>
              <a:rPr b="1" lang="pt-BR" sz="3900">
                <a:solidFill>
                  <a:srgbClr val="FF600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Onde a IA é usada?</a:t>
            </a:r>
            <a:endParaRPr b="0" i="0" sz="700" u="none" cap="none" strike="noStrike">
              <a:solidFill>
                <a:srgbClr val="FF600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9"/>
          <p:cNvSpPr/>
          <p:nvPr/>
        </p:nvSpPr>
        <p:spPr>
          <a:xfrm>
            <a:off x="6369950" y="-2210975"/>
            <a:ext cx="4057800" cy="3840900"/>
          </a:xfrm>
          <a:prstGeom prst="pie">
            <a:avLst>
              <a:gd fmla="val 5392061" name="adj1"/>
              <a:gd fmla="val 10790918" name="adj2"/>
            </a:avLst>
          </a:prstGeom>
          <a:solidFill>
            <a:srgbClr val="2323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19"/>
          <p:cNvSpPr/>
          <p:nvPr/>
        </p:nvSpPr>
        <p:spPr>
          <a:xfrm>
            <a:off x="8618900" y="-2210975"/>
            <a:ext cx="4057800" cy="3840900"/>
          </a:xfrm>
          <a:prstGeom prst="pie">
            <a:avLst>
              <a:gd fmla="val 5392061" name="adj1"/>
              <a:gd fmla="val 10790918" name="adj2"/>
            </a:avLst>
          </a:prstGeom>
          <a:solidFill>
            <a:srgbClr val="2323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19"/>
          <p:cNvSpPr/>
          <p:nvPr/>
        </p:nvSpPr>
        <p:spPr>
          <a:xfrm flipH="1">
            <a:off x="-3415675" y="2455350"/>
            <a:ext cx="4057800" cy="3840900"/>
          </a:xfrm>
          <a:prstGeom prst="pie">
            <a:avLst>
              <a:gd fmla="val 5392061" name="adj1"/>
              <a:gd fmla="val 10790918" name="adj2"/>
            </a:avLst>
          </a:prstGeom>
          <a:solidFill>
            <a:srgbClr val="2323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19"/>
          <p:cNvSpPr txBox="1"/>
          <p:nvPr/>
        </p:nvSpPr>
        <p:spPr>
          <a:xfrm>
            <a:off x="754600" y="1517025"/>
            <a:ext cx="69792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Você já usa IA a muito tempo, mesmo sem perceber. Há vários dos produtos e serviços que usamos no nosso dia a dia têm algoritmos de IA</a:t>
            </a:r>
            <a:endParaRPr sz="12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7EE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20"/>
          <p:cNvPicPr preferRelativeResize="0"/>
          <p:nvPr/>
        </p:nvPicPr>
        <p:blipFill rotWithShape="1">
          <a:blip r:embed="rId3">
            <a:alphaModFix/>
          </a:blip>
          <a:srcRect b="9788" l="10016" r="16335" t="12717"/>
          <a:stretch/>
        </p:blipFill>
        <p:spPr>
          <a:xfrm>
            <a:off x="5340150" y="0"/>
            <a:ext cx="3257975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20"/>
          <p:cNvPicPr preferRelativeResize="0"/>
          <p:nvPr/>
        </p:nvPicPr>
        <p:blipFill rotWithShape="1">
          <a:blip r:embed="rId4">
            <a:alphaModFix/>
          </a:blip>
          <a:srcRect b="4955" l="0" r="0" t="4946"/>
          <a:stretch/>
        </p:blipFill>
        <p:spPr>
          <a:xfrm>
            <a:off x="0" y="0"/>
            <a:ext cx="565579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20"/>
          <p:cNvSpPr txBox="1"/>
          <p:nvPr/>
        </p:nvSpPr>
        <p:spPr>
          <a:xfrm>
            <a:off x="654850" y="1349375"/>
            <a:ext cx="3917100" cy="3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1" lang="pt-BR" sz="5400">
                <a:solidFill>
                  <a:srgbClr val="FF600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BOAS PRÁTICAS PARA O USO DE IA NA CESAR SCHOOL</a:t>
            </a:r>
            <a:endParaRPr b="1" i="1" sz="5400" u="none" cap="none" strike="noStrike">
              <a:solidFill>
                <a:srgbClr val="FF600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pic>
        <p:nvPicPr>
          <p:cNvPr id="141" name="Google Shape;141;p20"/>
          <p:cNvPicPr preferRelativeResize="0"/>
          <p:nvPr/>
        </p:nvPicPr>
        <p:blipFill rotWithShape="1">
          <a:blip r:embed="rId5">
            <a:alphaModFix/>
          </a:blip>
          <a:srcRect b="0" l="0" r="38008" t="0"/>
          <a:stretch/>
        </p:blipFill>
        <p:spPr>
          <a:xfrm>
            <a:off x="8262075" y="0"/>
            <a:ext cx="881925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0"/>
          <p:cNvSpPr/>
          <p:nvPr/>
        </p:nvSpPr>
        <p:spPr>
          <a:xfrm rot="5400000">
            <a:off x="7957625" y="2592400"/>
            <a:ext cx="1513500" cy="1513500"/>
          </a:xfrm>
          <a:prstGeom prst="pie">
            <a:avLst>
              <a:gd fmla="val 5392061" name="adj1"/>
              <a:gd fmla="val 16238908" name="adj2"/>
            </a:avLst>
          </a:prstGeom>
          <a:solidFill>
            <a:srgbClr val="FF60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20"/>
          <p:cNvSpPr/>
          <p:nvPr/>
        </p:nvSpPr>
        <p:spPr>
          <a:xfrm rot="5400000">
            <a:off x="7979275" y="1807025"/>
            <a:ext cx="1513500" cy="1513500"/>
          </a:xfrm>
          <a:prstGeom prst="pie">
            <a:avLst>
              <a:gd fmla="val 5392061" name="adj1"/>
              <a:gd fmla="val 16238908" name="adj2"/>
            </a:avLst>
          </a:prstGeom>
          <a:solidFill>
            <a:srgbClr val="2323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20"/>
          <p:cNvSpPr/>
          <p:nvPr/>
        </p:nvSpPr>
        <p:spPr>
          <a:xfrm rot="5400000">
            <a:off x="3637150" y="3912950"/>
            <a:ext cx="2358300" cy="2446500"/>
          </a:xfrm>
          <a:prstGeom prst="pie">
            <a:avLst>
              <a:gd fmla="val 10761822" name="adj1"/>
              <a:gd fmla="val 16186354" name="adj2"/>
            </a:avLst>
          </a:prstGeom>
          <a:noFill/>
          <a:ln cap="flat" cmpd="sng" w="19050">
            <a:solidFill>
              <a:srgbClr val="FFB1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5" name="Google Shape;145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55925" y="657575"/>
            <a:ext cx="556575" cy="496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7EE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1"/>
          <p:cNvSpPr txBox="1"/>
          <p:nvPr/>
        </p:nvSpPr>
        <p:spPr>
          <a:xfrm>
            <a:off x="1515250" y="1828950"/>
            <a:ext cx="2826000" cy="27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IA como Ferramenta de Apoio, não de Substituição</a:t>
            </a:r>
            <a:r>
              <a:rPr lang="pt-BR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: A IA deve ser usada para agilizar e otimizar tarefas, mas nunca para substituir o seu raciocínio e autoria.</a:t>
            </a:r>
            <a:endParaRPr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pt-BR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✍️ Exemplo</a:t>
            </a:r>
            <a:r>
              <a:rPr lang="pt-BR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: Em vez de pedir para a IA escrever um texto completo, use-a para corrigir ou melhorar um texto que você já escreveu.</a:t>
            </a:r>
            <a:endParaRPr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51" name="Google Shape;151;p21"/>
          <p:cNvSpPr/>
          <p:nvPr/>
        </p:nvSpPr>
        <p:spPr>
          <a:xfrm>
            <a:off x="831625" y="1854746"/>
            <a:ext cx="494100" cy="776400"/>
          </a:xfrm>
          <a:prstGeom prst="roundRect">
            <a:avLst>
              <a:gd fmla="val 50000" name="adj"/>
            </a:avLst>
          </a:prstGeom>
          <a:solidFill>
            <a:srgbClr val="FF600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21"/>
          <p:cNvSpPr/>
          <p:nvPr/>
        </p:nvSpPr>
        <p:spPr>
          <a:xfrm rot="10800000">
            <a:off x="4860771" y="1936046"/>
            <a:ext cx="529200" cy="529200"/>
          </a:xfrm>
          <a:prstGeom prst="ellipse">
            <a:avLst/>
          </a:prstGeom>
          <a:solidFill>
            <a:srgbClr val="FF600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21"/>
          <p:cNvSpPr txBox="1"/>
          <p:nvPr/>
        </p:nvSpPr>
        <p:spPr>
          <a:xfrm>
            <a:off x="5563375" y="1828950"/>
            <a:ext cx="2826000" cy="253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pt-BR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Desenvolvimento de Habilidades</a:t>
            </a:r>
            <a:r>
              <a:rPr lang="pt-BR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: O objetivo das disciplinas é que vocês adquiram conhecimentos e habilidades essenciais para atuar na área de tecnologia.</a:t>
            </a:r>
            <a:endParaRPr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💡 A IA pode ajudar a </a:t>
            </a:r>
            <a:r>
              <a:rPr b="1" lang="pt-BR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aprender conceitos</a:t>
            </a:r>
            <a:r>
              <a:rPr lang="pt-BR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, mas não deve ser usada para contornar o processo de aprendizado.</a:t>
            </a:r>
            <a:endParaRPr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54" name="Google Shape;154;p21"/>
          <p:cNvSpPr txBox="1"/>
          <p:nvPr/>
        </p:nvSpPr>
        <p:spPr>
          <a:xfrm>
            <a:off x="754600" y="776025"/>
            <a:ext cx="4347300" cy="6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</a:pPr>
            <a:r>
              <a:rPr b="1" lang="pt-BR" sz="3900">
                <a:solidFill>
                  <a:srgbClr val="FF600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1. PRINCÍPIOS GERAIS PARA O USO DE IA</a:t>
            </a:r>
            <a:endParaRPr sz="700">
              <a:solidFill>
                <a:srgbClr val="FF6002"/>
              </a:solidFill>
            </a:endParaRPr>
          </a:p>
        </p:txBody>
      </p:sp>
      <p:sp>
        <p:nvSpPr>
          <p:cNvPr id="155" name="Google Shape;155;p21"/>
          <p:cNvSpPr/>
          <p:nvPr/>
        </p:nvSpPr>
        <p:spPr>
          <a:xfrm>
            <a:off x="6369950" y="-2210975"/>
            <a:ext cx="4057800" cy="3840900"/>
          </a:xfrm>
          <a:prstGeom prst="pie">
            <a:avLst>
              <a:gd fmla="val 5392061" name="adj1"/>
              <a:gd fmla="val 10790918" name="adj2"/>
            </a:avLst>
          </a:prstGeom>
          <a:solidFill>
            <a:srgbClr val="2323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21"/>
          <p:cNvSpPr/>
          <p:nvPr/>
        </p:nvSpPr>
        <p:spPr>
          <a:xfrm>
            <a:off x="8618900" y="-2210975"/>
            <a:ext cx="4057800" cy="3840900"/>
          </a:xfrm>
          <a:prstGeom prst="pie">
            <a:avLst>
              <a:gd fmla="val 5392061" name="adj1"/>
              <a:gd fmla="val 10790918" name="adj2"/>
            </a:avLst>
          </a:prstGeom>
          <a:solidFill>
            <a:srgbClr val="2323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21"/>
          <p:cNvSpPr/>
          <p:nvPr/>
        </p:nvSpPr>
        <p:spPr>
          <a:xfrm flipH="1">
            <a:off x="-3415675" y="2455350"/>
            <a:ext cx="4057800" cy="3840900"/>
          </a:xfrm>
          <a:prstGeom prst="pie">
            <a:avLst>
              <a:gd fmla="val 5392061" name="adj1"/>
              <a:gd fmla="val 10790918" name="adj2"/>
            </a:avLst>
          </a:prstGeom>
          <a:solidFill>
            <a:srgbClr val="2323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21"/>
          <p:cNvSpPr/>
          <p:nvPr/>
        </p:nvSpPr>
        <p:spPr>
          <a:xfrm flipH="1">
            <a:off x="-1227450" y="2982425"/>
            <a:ext cx="4057800" cy="3840900"/>
          </a:xfrm>
          <a:prstGeom prst="pie">
            <a:avLst>
              <a:gd fmla="val 5392061" name="adj1"/>
              <a:gd fmla="val 10790918" name="adj2"/>
            </a:avLst>
          </a:prstGeom>
          <a:solidFill>
            <a:srgbClr val="FF60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7EE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2"/>
          <p:cNvSpPr txBox="1"/>
          <p:nvPr/>
        </p:nvSpPr>
        <p:spPr>
          <a:xfrm>
            <a:off x="1515250" y="1828950"/>
            <a:ext cx="2826000" cy="20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Respeito à Autoria e Propriedade Intelectual</a:t>
            </a:r>
            <a:r>
              <a:rPr lang="pt-BR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: </a:t>
            </a:r>
            <a:r>
              <a:rPr lang="pt-BR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Sempre dê crédito às fontes e ferramentas utilizadas.</a:t>
            </a:r>
            <a:endParaRPr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🫡 Evite o uso de IA para gerar conteúdos que serão apresentados como de sua autoria sem a devida revisão e adaptação.</a:t>
            </a:r>
            <a:endParaRPr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64" name="Google Shape;164;p22"/>
          <p:cNvSpPr/>
          <p:nvPr/>
        </p:nvSpPr>
        <p:spPr>
          <a:xfrm>
            <a:off x="831625" y="1854746"/>
            <a:ext cx="494100" cy="776400"/>
          </a:xfrm>
          <a:prstGeom prst="roundRect">
            <a:avLst>
              <a:gd fmla="val 50000" name="adj"/>
            </a:avLst>
          </a:prstGeom>
          <a:solidFill>
            <a:srgbClr val="FF600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22"/>
          <p:cNvSpPr/>
          <p:nvPr/>
        </p:nvSpPr>
        <p:spPr>
          <a:xfrm rot="10800000">
            <a:off x="4860771" y="1936046"/>
            <a:ext cx="529200" cy="529200"/>
          </a:xfrm>
          <a:prstGeom prst="ellipse">
            <a:avLst/>
          </a:prstGeom>
          <a:solidFill>
            <a:srgbClr val="FF600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22"/>
          <p:cNvSpPr txBox="1"/>
          <p:nvPr/>
        </p:nvSpPr>
        <p:spPr>
          <a:xfrm>
            <a:off x="5563375" y="1828950"/>
            <a:ext cx="2826000" cy="29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pt-BR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Segurança e Confidencialidade</a:t>
            </a:r>
            <a:r>
              <a:rPr lang="pt-BR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: </a:t>
            </a:r>
            <a:r>
              <a:rPr lang="pt-BR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    Siga as orientações do CESAR sobre o uso de IA, especialmente em relação à confidencialidade de informações.</a:t>
            </a:r>
            <a:endParaRPr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🙅‍♂️ Nunca compartilhe dados sensíveis, informações de projetos ou detalhes de clientes em ferramentas de IA.</a:t>
            </a:r>
            <a:endParaRPr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67" name="Google Shape;167;p22"/>
          <p:cNvSpPr txBox="1"/>
          <p:nvPr/>
        </p:nvSpPr>
        <p:spPr>
          <a:xfrm>
            <a:off x="754600" y="776025"/>
            <a:ext cx="4347300" cy="6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</a:pPr>
            <a:r>
              <a:rPr b="1" lang="pt-BR" sz="3900">
                <a:solidFill>
                  <a:srgbClr val="FF600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1. PRINCÍPIOS GERAIS PARA O USO DE IA</a:t>
            </a:r>
            <a:endParaRPr sz="700">
              <a:solidFill>
                <a:srgbClr val="FF6002"/>
              </a:solidFill>
            </a:endParaRPr>
          </a:p>
        </p:txBody>
      </p:sp>
      <p:sp>
        <p:nvSpPr>
          <p:cNvPr id="168" name="Google Shape;168;p22"/>
          <p:cNvSpPr/>
          <p:nvPr/>
        </p:nvSpPr>
        <p:spPr>
          <a:xfrm>
            <a:off x="6369950" y="-2210975"/>
            <a:ext cx="4057800" cy="3840900"/>
          </a:xfrm>
          <a:prstGeom prst="pie">
            <a:avLst>
              <a:gd fmla="val 5392061" name="adj1"/>
              <a:gd fmla="val 10790918" name="adj2"/>
            </a:avLst>
          </a:prstGeom>
          <a:solidFill>
            <a:srgbClr val="2323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22"/>
          <p:cNvSpPr/>
          <p:nvPr/>
        </p:nvSpPr>
        <p:spPr>
          <a:xfrm>
            <a:off x="8618900" y="-2210975"/>
            <a:ext cx="4057800" cy="3840900"/>
          </a:xfrm>
          <a:prstGeom prst="pie">
            <a:avLst>
              <a:gd fmla="val 5392061" name="adj1"/>
              <a:gd fmla="val 10790918" name="adj2"/>
            </a:avLst>
          </a:prstGeom>
          <a:solidFill>
            <a:srgbClr val="2323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22"/>
          <p:cNvSpPr/>
          <p:nvPr/>
        </p:nvSpPr>
        <p:spPr>
          <a:xfrm flipH="1">
            <a:off x="-3415675" y="2455350"/>
            <a:ext cx="4057800" cy="3840900"/>
          </a:xfrm>
          <a:prstGeom prst="pie">
            <a:avLst>
              <a:gd fmla="val 5392061" name="adj1"/>
              <a:gd fmla="val 10790918" name="adj2"/>
            </a:avLst>
          </a:prstGeom>
          <a:solidFill>
            <a:srgbClr val="2323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22"/>
          <p:cNvSpPr/>
          <p:nvPr/>
        </p:nvSpPr>
        <p:spPr>
          <a:xfrm flipH="1">
            <a:off x="-1227450" y="2982425"/>
            <a:ext cx="4057800" cy="3840900"/>
          </a:xfrm>
          <a:prstGeom prst="pie">
            <a:avLst>
              <a:gd fmla="val 5392061" name="adj1"/>
              <a:gd fmla="val 10790918" name="adj2"/>
            </a:avLst>
          </a:prstGeom>
          <a:solidFill>
            <a:srgbClr val="FF60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7EE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3"/>
          <p:cNvSpPr txBox="1"/>
          <p:nvPr/>
        </p:nvSpPr>
        <p:spPr>
          <a:xfrm>
            <a:off x="1515250" y="1828950"/>
            <a:ext cx="2826000" cy="18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🏫 Aproveite os momentos em aula (teóricos e práticos) para entender como a IA funciona, suas limitações e potenciais aplicações, de modo que você </a:t>
            </a:r>
            <a:r>
              <a:rPr b="1" lang="pt-BR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desenvolva uma visão crítica</a:t>
            </a:r>
            <a:r>
              <a:rPr lang="pt-BR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 do uso dessas tecnologias.</a:t>
            </a:r>
            <a:endParaRPr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77" name="Google Shape;177;p23"/>
          <p:cNvSpPr/>
          <p:nvPr/>
        </p:nvSpPr>
        <p:spPr>
          <a:xfrm>
            <a:off x="831625" y="1854746"/>
            <a:ext cx="494100" cy="776400"/>
          </a:xfrm>
          <a:prstGeom prst="roundRect">
            <a:avLst>
              <a:gd fmla="val 50000" name="adj"/>
            </a:avLst>
          </a:prstGeom>
          <a:solidFill>
            <a:srgbClr val="FF600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23"/>
          <p:cNvSpPr/>
          <p:nvPr/>
        </p:nvSpPr>
        <p:spPr>
          <a:xfrm rot="10800000">
            <a:off x="4860771" y="1936046"/>
            <a:ext cx="529200" cy="529200"/>
          </a:xfrm>
          <a:prstGeom prst="ellipse">
            <a:avLst/>
          </a:prstGeom>
          <a:solidFill>
            <a:srgbClr val="FF600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23"/>
          <p:cNvSpPr txBox="1"/>
          <p:nvPr/>
        </p:nvSpPr>
        <p:spPr>
          <a:xfrm>
            <a:off x="5563375" y="1828950"/>
            <a:ext cx="2826000" cy="21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🧾 Em atividades avaliativas (trabalhos, projetos, provas), o uso de IA deve sempre ser declarado quando houver influência significativa na produção. </a:t>
            </a:r>
            <a:r>
              <a:rPr b="1" lang="pt-BR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Transparência</a:t>
            </a:r>
            <a:r>
              <a:rPr lang="pt-BR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 ajuda a evitar problemas de plágio ou questionamentos sobre autoria.</a:t>
            </a:r>
            <a:endParaRPr i="0" u="none" cap="none" strike="noStrike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80" name="Google Shape;180;p23"/>
          <p:cNvSpPr txBox="1"/>
          <p:nvPr/>
        </p:nvSpPr>
        <p:spPr>
          <a:xfrm>
            <a:off x="754600" y="776025"/>
            <a:ext cx="4682400" cy="6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</a:pPr>
            <a:r>
              <a:rPr b="1" lang="pt-BR" sz="3900">
                <a:solidFill>
                  <a:srgbClr val="FF600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2. ALINHAMENTO COM OS OBJETIVOS DE ENSINO</a:t>
            </a:r>
            <a:endParaRPr b="0" i="0" sz="700" u="none" cap="none" strike="noStrike">
              <a:solidFill>
                <a:srgbClr val="FF600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23"/>
          <p:cNvSpPr/>
          <p:nvPr/>
        </p:nvSpPr>
        <p:spPr>
          <a:xfrm>
            <a:off x="6369950" y="-2210975"/>
            <a:ext cx="4057800" cy="3840900"/>
          </a:xfrm>
          <a:prstGeom prst="pie">
            <a:avLst>
              <a:gd fmla="val 5392061" name="adj1"/>
              <a:gd fmla="val 10790918" name="adj2"/>
            </a:avLst>
          </a:prstGeom>
          <a:solidFill>
            <a:srgbClr val="2323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23"/>
          <p:cNvSpPr/>
          <p:nvPr/>
        </p:nvSpPr>
        <p:spPr>
          <a:xfrm>
            <a:off x="8618900" y="-2210975"/>
            <a:ext cx="4057800" cy="3840900"/>
          </a:xfrm>
          <a:prstGeom prst="pie">
            <a:avLst>
              <a:gd fmla="val 5392061" name="adj1"/>
              <a:gd fmla="val 10790918" name="adj2"/>
            </a:avLst>
          </a:prstGeom>
          <a:solidFill>
            <a:srgbClr val="2323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23"/>
          <p:cNvSpPr/>
          <p:nvPr/>
        </p:nvSpPr>
        <p:spPr>
          <a:xfrm flipH="1">
            <a:off x="-3415675" y="2455350"/>
            <a:ext cx="4057800" cy="3840900"/>
          </a:xfrm>
          <a:prstGeom prst="pie">
            <a:avLst>
              <a:gd fmla="val 5392061" name="adj1"/>
              <a:gd fmla="val 10790918" name="adj2"/>
            </a:avLst>
          </a:prstGeom>
          <a:solidFill>
            <a:srgbClr val="2323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23"/>
          <p:cNvSpPr/>
          <p:nvPr/>
        </p:nvSpPr>
        <p:spPr>
          <a:xfrm flipH="1">
            <a:off x="-1227450" y="2982425"/>
            <a:ext cx="4057800" cy="3840900"/>
          </a:xfrm>
          <a:prstGeom prst="pie">
            <a:avLst>
              <a:gd fmla="val 5392061" name="adj1"/>
              <a:gd fmla="val 10790918" name="adj2"/>
            </a:avLst>
          </a:prstGeom>
          <a:solidFill>
            <a:srgbClr val="FF60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7EE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4"/>
          <p:cNvSpPr txBox="1"/>
          <p:nvPr/>
        </p:nvSpPr>
        <p:spPr>
          <a:xfrm>
            <a:off x="484675" y="1893663"/>
            <a:ext cx="8009400" cy="28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O CESAR estabeleceu indicadores de atenção para o uso de IA, classificando cenários onde a IA é bem-vinda (🟩 Verde), tolerada sob certas restrições (🟨 Amarelo) e proibida (🟥 Vermelho) para evitar riscos.</a:t>
            </a:r>
            <a:endParaRPr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🟩 Sinal Verde</a:t>
            </a:r>
            <a:r>
              <a:rPr lang="pt-BR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:</a:t>
            </a:r>
            <a:endParaRPr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●"/>
            </a:pPr>
            <a:r>
              <a:rPr lang="pt-BR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Estudo individual;</a:t>
            </a:r>
            <a:endParaRPr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●"/>
            </a:pPr>
            <a:r>
              <a:rPr lang="pt-BR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Pesquisa de definições e conceitos;</a:t>
            </a:r>
            <a:endParaRPr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pt-BR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Consulta a exemplos de código para </a:t>
            </a:r>
            <a:r>
              <a:rPr b="1" lang="pt-BR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entender</a:t>
            </a:r>
            <a:r>
              <a:rPr lang="pt-BR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 determinada técnica;</a:t>
            </a:r>
            <a:endParaRPr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●"/>
            </a:pPr>
            <a:r>
              <a:rPr lang="pt-BR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Identificação de tendências de mercado ou oportunidades de aprendizado.</a:t>
            </a:r>
            <a:endParaRPr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90" name="Google Shape;190;p24"/>
          <p:cNvSpPr txBox="1"/>
          <p:nvPr/>
        </p:nvSpPr>
        <p:spPr>
          <a:xfrm>
            <a:off x="484675" y="716350"/>
            <a:ext cx="4372800" cy="114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</a:pPr>
            <a:r>
              <a:rPr b="1" lang="pt-BR" sz="3900">
                <a:solidFill>
                  <a:srgbClr val="FF600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3. SINAL VERDE, AMARELO E VERMELHO</a:t>
            </a:r>
            <a:endParaRPr sz="700">
              <a:solidFill>
                <a:srgbClr val="FF6002"/>
              </a:solidFill>
            </a:endParaRPr>
          </a:p>
        </p:txBody>
      </p:sp>
      <p:sp>
        <p:nvSpPr>
          <p:cNvPr id="191" name="Google Shape;191;p24"/>
          <p:cNvSpPr/>
          <p:nvPr/>
        </p:nvSpPr>
        <p:spPr>
          <a:xfrm>
            <a:off x="5179500" y="-2224575"/>
            <a:ext cx="4057800" cy="3840900"/>
          </a:xfrm>
          <a:prstGeom prst="pie">
            <a:avLst>
              <a:gd fmla="val 5392061" name="adj1"/>
              <a:gd fmla="val 10790918" name="adj2"/>
            </a:avLst>
          </a:prstGeom>
          <a:solidFill>
            <a:srgbClr val="FF60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24"/>
          <p:cNvSpPr/>
          <p:nvPr/>
        </p:nvSpPr>
        <p:spPr>
          <a:xfrm>
            <a:off x="7305794" y="-2224575"/>
            <a:ext cx="3840900" cy="3840900"/>
          </a:xfrm>
          <a:prstGeom prst="pie">
            <a:avLst>
              <a:gd fmla="val 5389961" name="adj1"/>
              <a:gd fmla="val 10790918" name="adj2"/>
            </a:avLst>
          </a:prstGeom>
          <a:solidFill>
            <a:srgbClr val="FF60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7EE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5"/>
          <p:cNvSpPr txBox="1"/>
          <p:nvPr/>
        </p:nvSpPr>
        <p:spPr>
          <a:xfrm>
            <a:off x="484675" y="2198463"/>
            <a:ext cx="8009400" cy="17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🟨 Sinal Amarelo</a:t>
            </a:r>
            <a:r>
              <a:rPr lang="pt-BR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:</a:t>
            </a:r>
            <a:endParaRPr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pt-BR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Geração de textos e códigos </a:t>
            </a:r>
            <a:r>
              <a:rPr b="1" lang="pt-BR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apenas</a:t>
            </a:r>
            <a:r>
              <a:rPr lang="pt-BR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 para otimizar seu trabalho, sempre garantindo que você compreende e valida o que foi produzido;</a:t>
            </a:r>
            <a:endParaRPr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●"/>
            </a:pPr>
            <a:r>
              <a:rPr lang="pt-BR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Correção e revisão de textos e códigos próprios (desde que não contenham dados confidenciais ou de clientes);</a:t>
            </a:r>
            <a:endParaRPr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●"/>
            </a:pPr>
            <a:r>
              <a:rPr lang="pt-BR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Uso de IA para testes em projetos experimentais, mas sem compartilhar informações sensíveis.</a:t>
            </a:r>
            <a:endParaRPr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98" name="Google Shape;198;p25"/>
          <p:cNvSpPr txBox="1"/>
          <p:nvPr/>
        </p:nvSpPr>
        <p:spPr>
          <a:xfrm>
            <a:off x="484675" y="716350"/>
            <a:ext cx="4372800" cy="114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</a:pPr>
            <a:r>
              <a:rPr b="1" lang="pt-BR" sz="3900">
                <a:solidFill>
                  <a:srgbClr val="FF600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3. SINAL VERDE, AMARELO E VERMELHO</a:t>
            </a:r>
            <a:endParaRPr sz="700">
              <a:solidFill>
                <a:srgbClr val="FF6002"/>
              </a:solidFill>
            </a:endParaRPr>
          </a:p>
        </p:txBody>
      </p:sp>
      <p:sp>
        <p:nvSpPr>
          <p:cNvPr id="199" name="Google Shape;199;p25"/>
          <p:cNvSpPr/>
          <p:nvPr/>
        </p:nvSpPr>
        <p:spPr>
          <a:xfrm>
            <a:off x="5179500" y="-2224575"/>
            <a:ext cx="4057800" cy="3840900"/>
          </a:xfrm>
          <a:prstGeom prst="pie">
            <a:avLst>
              <a:gd fmla="val 5392061" name="adj1"/>
              <a:gd fmla="val 10790918" name="adj2"/>
            </a:avLst>
          </a:prstGeom>
          <a:solidFill>
            <a:srgbClr val="FF60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25"/>
          <p:cNvSpPr/>
          <p:nvPr/>
        </p:nvSpPr>
        <p:spPr>
          <a:xfrm>
            <a:off x="7305794" y="-2224575"/>
            <a:ext cx="3840900" cy="3840900"/>
          </a:xfrm>
          <a:prstGeom prst="pie">
            <a:avLst>
              <a:gd fmla="val 5389961" name="adj1"/>
              <a:gd fmla="val 10790918" name="adj2"/>
            </a:avLst>
          </a:prstGeom>
          <a:solidFill>
            <a:srgbClr val="FF60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7EE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6"/>
          <p:cNvSpPr txBox="1"/>
          <p:nvPr/>
        </p:nvSpPr>
        <p:spPr>
          <a:xfrm>
            <a:off x="484675" y="2198463"/>
            <a:ext cx="8009400" cy="22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🟥 Sinal Vermelho</a:t>
            </a:r>
            <a:r>
              <a:rPr lang="pt-BR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:</a:t>
            </a:r>
            <a:endParaRPr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●"/>
            </a:pPr>
            <a:r>
              <a:rPr lang="pt-BR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Upload de dados restritos ou sensíveis, como informações pessoais, bancárias, de clientes (da disciplina de Projeto) ou de projetos específicos sujeitos a </a:t>
            </a:r>
            <a:r>
              <a:rPr i="1" lang="pt-BR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NDA</a:t>
            </a:r>
            <a:r>
              <a:rPr lang="pt-BR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 (</a:t>
            </a:r>
            <a:r>
              <a:rPr i="1" lang="pt-BR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Non-Disclosure Agreement</a:t>
            </a:r>
            <a:r>
              <a:rPr lang="pt-BR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 ou “contrato de confidencialidade”);</a:t>
            </a:r>
            <a:endParaRPr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●"/>
            </a:pPr>
            <a:r>
              <a:rPr lang="pt-BR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Geração automática de todo o conteúdo acadêmico ou profissional sem autoria humana, comprometendo a qualidade e a originalidade do trabalho;</a:t>
            </a:r>
            <a:endParaRPr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●"/>
            </a:pPr>
            <a:r>
              <a:rPr lang="pt-BR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Uso de IA em atividades onde a divulgação ou cópia não autorizada possa ferir direitos autorais ou confidencialidade.</a:t>
            </a:r>
            <a:endParaRPr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06" name="Google Shape;206;p26"/>
          <p:cNvSpPr txBox="1"/>
          <p:nvPr/>
        </p:nvSpPr>
        <p:spPr>
          <a:xfrm>
            <a:off x="484675" y="716350"/>
            <a:ext cx="4372800" cy="114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</a:pPr>
            <a:r>
              <a:rPr b="1" lang="pt-BR" sz="3900">
                <a:solidFill>
                  <a:srgbClr val="FF600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3. SINAL VERDE, AMARELO E VERMELHO</a:t>
            </a:r>
            <a:endParaRPr sz="700">
              <a:solidFill>
                <a:srgbClr val="FF6002"/>
              </a:solidFill>
            </a:endParaRPr>
          </a:p>
        </p:txBody>
      </p:sp>
      <p:sp>
        <p:nvSpPr>
          <p:cNvPr id="207" name="Google Shape;207;p26"/>
          <p:cNvSpPr/>
          <p:nvPr/>
        </p:nvSpPr>
        <p:spPr>
          <a:xfrm>
            <a:off x="5179500" y="-2224575"/>
            <a:ext cx="4057800" cy="3840900"/>
          </a:xfrm>
          <a:prstGeom prst="pie">
            <a:avLst>
              <a:gd fmla="val 5392061" name="adj1"/>
              <a:gd fmla="val 10790918" name="adj2"/>
            </a:avLst>
          </a:prstGeom>
          <a:solidFill>
            <a:srgbClr val="FF60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6"/>
          <p:cNvSpPr/>
          <p:nvPr/>
        </p:nvSpPr>
        <p:spPr>
          <a:xfrm>
            <a:off x="7305794" y="-2224575"/>
            <a:ext cx="3840900" cy="3840900"/>
          </a:xfrm>
          <a:prstGeom prst="pie">
            <a:avLst>
              <a:gd fmla="val 5389961" name="adj1"/>
              <a:gd fmla="val 10790918" name="adj2"/>
            </a:avLst>
          </a:prstGeom>
          <a:solidFill>
            <a:srgbClr val="FF60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7EE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27"/>
          <p:cNvPicPr preferRelativeResize="0"/>
          <p:nvPr/>
        </p:nvPicPr>
        <p:blipFill rotWithShape="1">
          <a:blip r:embed="rId3">
            <a:alphaModFix/>
          </a:blip>
          <a:srcRect b="9788" l="10016" r="16335" t="12717"/>
          <a:stretch/>
        </p:blipFill>
        <p:spPr>
          <a:xfrm>
            <a:off x="5340150" y="0"/>
            <a:ext cx="3257975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27"/>
          <p:cNvPicPr preferRelativeResize="0"/>
          <p:nvPr/>
        </p:nvPicPr>
        <p:blipFill rotWithShape="1">
          <a:blip r:embed="rId4">
            <a:alphaModFix/>
          </a:blip>
          <a:srcRect b="4955" l="0" r="0" t="4946"/>
          <a:stretch/>
        </p:blipFill>
        <p:spPr>
          <a:xfrm>
            <a:off x="0" y="0"/>
            <a:ext cx="565579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7"/>
          <p:cNvSpPr txBox="1"/>
          <p:nvPr/>
        </p:nvSpPr>
        <p:spPr>
          <a:xfrm>
            <a:off x="654850" y="1349375"/>
            <a:ext cx="4275900" cy="24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1" lang="pt-BR" sz="5400">
                <a:solidFill>
                  <a:srgbClr val="FF600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RECOMENDAÇÕES DE SEGURANÇA E PRIVACIDADE</a:t>
            </a:r>
            <a:endParaRPr b="1" i="1" sz="5400" u="none" cap="none" strike="noStrike">
              <a:solidFill>
                <a:srgbClr val="FF600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pic>
        <p:nvPicPr>
          <p:cNvPr id="216" name="Google Shape;216;p27"/>
          <p:cNvPicPr preferRelativeResize="0"/>
          <p:nvPr/>
        </p:nvPicPr>
        <p:blipFill rotWithShape="1">
          <a:blip r:embed="rId5">
            <a:alphaModFix/>
          </a:blip>
          <a:srcRect b="0" l="0" r="38008" t="0"/>
          <a:stretch/>
        </p:blipFill>
        <p:spPr>
          <a:xfrm>
            <a:off x="8262075" y="0"/>
            <a:ext cx="881925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7"/>
          <p:cNvSpPr/>
          <p:nvPr/>
        </p:nvSpPr>
        <p:spPr>
          <a:xfrm rot="5400000">
            <a:off x="7957625" y="2592400"/>
            <a:ext cx="1513500" cy="1513500"/>
          </a:xfrm>
          <a:prstGeom prst="pie">
            <a:avLst>
              <a:gd fmla="val 5392061" name="adj1"/>
              <a:gd fmla="val 16238908" name="adj2"/>
            </a:avLst>
          </a:prstGeom>
          <a:solidFill>
            <a:srgbClr val="FF60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27"/>
          <p:cNvSpPr/>
          <p:nvPr/>
        </p:nvSpPr>
        <p:spPr>
          <a:xfrm rot="5400000">
            <a:off x="7979275" y="1807025"/>
            <a:ext cx="1513500" cy="1513500"/>
          </a:xfrm>
          <a:prstGeom prst="pie">
            <a:avLst>
              <a:gd fmla="val 5392061" name="adj1"/>
              <a:gd fmla="val 16238908" name="adj2"/>
            </a:avLst>
          </a:prstGeom>
          <a:solidFill>
            <a:srgbClr val="2323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27"/>
          <p:cNvSpPr/>
          <p:nvPr/>
        </p:nvSpPr>
        <p:spPr>
          <a:xfrm rot="5400000">
            <a:off x="3637150" y="3912950"/>
            <a:ext cx="2358300" cy="2446500"/>
          </a:xfrm>
          <a:prstGeom prst="pie">
            <a:avLst>
              <a:gd fmla="val 10761822" name="adj1"/>
              <a:gd fmla="val 16186354" name="adj2"/>
            </a:avLst>
          </a:prstGeom>
          <a:noFill/>
          <a:ln cap="flat" cmpd="sng" w="19050">
            <a:solidFill>
              <a:srgbClr val="FFB1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0" name="Google Shape;220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55925" y="657575"/>
            <a:ext cx="556575" cy="496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7EE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8"/>
          <p:cNvSpPr txBox="1"/>
          <p:nvPr/>
        </p:nvSpPr>
        <p:spPr>
          <a:xfrm>
            <a:off x="1515250" y="1828950"/>
            <a:ext cx="2826000" cy="12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pt-BR"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Evite expor dados sensíveis</a:t>
            </a:r>
            <a:r>
              <a:rPr lang="pt-BR"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 ao interagir com ferramentas de IA. Uma vez inseridas, informações podem ser armazenadas em servidores de terceiros, fugindo ao seu controle.</a:t>
            </a:r>
            <a:endParaRPr i="0" sz="1200" u="none" cap="none" strike="noStrike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26" name="Google Shape;226;p28"/>
          <p:cNvSpPr/>
          <p:nvPr/>
        </p:nvSpPr>
        <p:spPr>
          <a:xfrm>
            <a:off x="831625" y="1854746"/>
            <a:ext cx="494100" cy="776400"/>
          </a:xfrm>
          <a:prstGeom prst="roundRect">
            <a:avLst>
              <a:gd fmla="val 50000" name="adj"/>
            </a:avLst>
          </a:prstGeom>
          <a:solidFill>
            <a:srgbClr val="FF600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7" name="Google Shape;227;p28"/>
          <p:cNvGrpSpPr/>
          <p:nvPr/>
        </p:nvGrpSpPr>
        <p:grpSpPr>
          <a:xfrm>
            <a:off x="834804" y="3271797"/>
            <a:ext cx="487782" cy="631985"/>
            <a:chOff x="1824779" y="2909234"/>
            <a:chExt cx="487782" cy="631985"/>
          </a:xfrm>
        </p:grpSpPr>
        <p:sp>
          <p:nvSpPr>
            <p:cNvPr id="228" name="Google Shape;228;p28"/>
            <p:cNvSpPr/>
            <p:nvPr/>
          </p:nvSpPr>
          <p:spPr>
            <a:xfrm rot="-5400000">
              <a:off x="1946711" y="2787302"/>
              <a:ext cx="243918" cy="487782"/>
            </a:xfrm>
            <a:custGeom>
              <a:rect b="b" l="l" r="r" t="t"/>
              <a:pathLst>
                <a:path extrusionOk="0" h="21600" w="21600">
                  <a:moveTo>
                    <a:pt x="0" y="21600"/>
                  </a:moveTo>
                  <a:cubicBezTo>
                    <a:pt x="11927" y="21600"/>
                    <a:pt x="21600" y="16764"/>
                    <a:pt x="21600" y="10800"/>
                  </a:cubicBezTo>
                  <a:cubicBezTo>
                    <a:pt x="21600" y="4836"/>
                    <a:pt x="11927" y="0"/>
                    <a:pt x="0" y="0"/>
                  </a:cubicBezTo>
                  <a:lnTo>
                    <a:pt x="0" y="21600"/>
                  </a:lnTo>
                  <a:close/>
                </a:path>
              </a:pathLst>
            </a:custGeom>
            <a:solidFill>
              <a:srgbClr val="FF6002"/>
            </a:solidFill>
            <a:ln>
              <a:noFill/>
            </a:ln>
          </p:spPr>
          <p:txBody>
            <a:bodyPr anchorCtr="0" anchor="ctr" bIns="67725" lIns="67725" spcFirstLastPara="1" rIns="67725" wrap="square" tIns="677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4300"/>
                <a:buFont typeface="Helvetica Neue"/>
                <a:buNone/>
              </a:pPr>
              <a:r>
                <a:t/>
              </a:r>
              <a:endParaRPr b="0" i="0" sz="43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29" name="Google Shape;229;p28"/>
            <p:cNvSpPr/>
            <p:nvPr/>
          </p:nvSpPr>
          <p:spPr>
            <a:xfrm rot="-5400000">
              <a:off x="1946711" y="3175369"/>
              <a:ext cx="243918" cy="487782"/>
            </a:xfrm>
            <a:custGeom>
              <a:rect b="b" l="l" r="r" t="t"/>
              <a:pathLst>
                <a:path extrusionOk="0" h="21600" w="21600">
                  <a:moveTo>
                    <a:pt x="0" y="21600"/>
                  </a:moveTo>
                  <a:cubicBezTo>
                    <a:pt x="11927" y="21600"/>
                    <a:pt x="21600" y="16764"/>
                    <a:pt x="21600" y="10800"/>
                  </a:cubicBezTo>
                  <a:cubicBezTo>
                    <a:pt x="21600" y="4836"/>
                    <a:pt x="11927" y="0"/>
                    <a:pt x="0" y="0"/>
                  </a:cubicBezTo>
                  <a:lnTo>
                    <a:pt x="0" y="21600"/>
                  </a:lnTo>
                  <a:close/>
                </a:path>
              </a:pathLst>
            </a:custGeom>
            <a:solidFill>
              <a:srgbClr val="FF6002"/>
            </a:solidFill>
            <a:ln>
              <a:noFill/>
            </a:ln>
          </p:spPr>
          <p:txBody>
            <a:bodyPr anchorCtr="0" anchor="ctr" bIns="67725" lIns="67725" spcFirstLastPara="1" rIns="67725" wrap="square" tIns="677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4300"/>
                <a:buFont typeface="Helvetica Neue"/>
                <a:buNone/>
              </a:pPr>
              <a:r>
                <a:t/>
              </a:r>
              <a:endParaRPr b="0" i="0" sz="43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230" name="Google Shape;230;p28"/>
          <p:cNvGrpSpPr/>
          <p:nvPr/>
        </p:nvGrpSpPr>
        <p:grpSpPr>
          <a:xfrm>
            <a:off x="4881485" y="3271789"/>
            <a:ext cx="487782" cy="631985"/>
            <a:chOff x="6810747" y="2909239"/>
            <a:chExt cx="487782" cy="631985"/>
          </a:xfrm>
        </p:grpSpPr>
        <p:sp>
          <p:nvSpPr>
            <p:cNvPr id="231" name="Google Shape;231;p28"/>
            <p:cNvSpPr/>
            <p:nvPr/>
          </p:nvSpPr>
          <p:spPr>
            <a:xfrm rot="5400000">
              <a:off x="6932679" y="3175374"/>
              <a:ext cx="243918" cy="487782"/>
            </a:xfrm>
            <a:custGeom>
              <a:rect b="b" l="l" r="r" t="t"/>
              <a:pathLst>
                <a:path extrusionOk="0" h="21600" w="21600">
                  <a:moveTo>
                    <a:pt x="0" y="21600"/>
                  </a:moveTo>
                  <a:cubicBezTo>
                    <a:pt x="11927" y="21600"/>
                    <a:pt x="21600" y="16764"/>
                    <a:pt x="21600" y="10800"/>
                  </a:cubicBezTo>
                  <a:cubicBezTo>
                    <a:pt x="21600" y="4836"/>
                    <a:pt x="11927" y="0"/>
                    <a:pt x="0" y="0"/>
                  </a:cubicBezTo>
                  <a:lnTo>
                    <a:pt x="0" y="21600"/>
                  </a:lnTo>
                  <a:close/>
                </a:path>
              </a:pathLst>
            </a:custGeom>
            <a:solidFill>
              <a:srgbClr val="FF6002"/>
            </a:solidFill>
            <a:ln>
              <a:noFill/>
            </a:ln>
          </p:spPr>
          <p:txBody>
            <a:bodyPr anchorCtr="0" anchor="ctr" bIns="67725" lIns="67725" spcFirstLastPara="1" rIns="67725" wrap="square" tIns="677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4300"/>
                <a:buFont typeface="Helvetica Neue"/>
                <a:buNone/>
              </a:pPr>
              <a:r>
                <a:t/>
              </a:r>
              <a:endParaRPr b="0" i="0" sz="43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32" name="Google Shape;232;p28"/>
            <p:cNvSpPr/>
            <p:nvPr/>
          </p:nvSpPr>
          <p:spPr>
            <a:xfrm rot="5400000">
              <a:off x="6932679" y="2787307"/>
              <a:ext cx="243918" cy="487782"/>
            </a:xfrm>
            <a:custGeom>
              <a:rect b="b" l="l" r="r" t="t"/>
              <a:pathLst>
                <a:path extrusionOk="0" h="21600" w="21600">
                  <a:moveTo>
                    <a:pt x="0" y="21600"/>
                  </a:moveTo>
                  <a:cubicBezTo>
                    <a:pt x="11927" y="21600"/>
                    <a:pt x="21600" y="16764"/>
                    <a:pt x="21600" y="10800"/>
                  </a:cubicBezTo>
                  <a:cubicBezTo>
                    <a:pt x="21600" y="4836"/>
                    <a:pt x="11927" y="0"/>
                    <a:pt x="0" y="0"/>
                  </a:cubicBezTo>
                  <a:lnTo>
                    <a:pt x="0" y="21600"/>
                  </a:lnTo>
                  <a:close/>
                </a:path>
              </a:pathLst>
            </a:custGeom>
            <a:solidFill>
              <a:srgbClr val="FF6002"/>
            </a:solidFill>
            <a:ln>
              <a:noFill/>
            </a:ln>
          </p:spPr>
          <p:txBody>
            <a:bodyPr anchorCtr="0" anchor="ctr" bIns="67725" lIns="67725" spcFirstLastPara="1" rIns="67725" wrap="square" tIns="677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4300"/>
                <a:buFont typeface="Helvetica Neue"/>
                <a:buNone/>
              </a:pPr>
              <a:r>
                <a:t/>
              </a:r>
              <a:endParaRPr b="0" i="0" sz="43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sp>
        <p:nvSpPr>
          <p:cNvPr id="233" name="Google Shape;233;p28"/>
          <p:cNvSpPr/>
          <p:nvPr/>
        </p:nvSpPr>
        <p:spPr>
          <a:xfrm rot="10800000">
            <a:off x="4860771" y="1936046"/>
            <a:ext cx="529200" cy="529200"/>
          </a:xfrm>
          <a:prstGeom prst="ellipse">
            <a:avLst/>
          </a:prstGeom>
          <a:solidFill>
            <a:srgbClr val="FF600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28"/>
          <p:cNvSpPr txBox="1"/>
          <p:nvPr/>
        </p:nvSpPr>
        <p:spPr>
          <a:xfrm>
            <a:off x="1515250" y="3216075"/>
            <a:ext cx="2826000" cy="10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pt-BR"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Verifique termos de uso</a:t>
            </a:r>
            <a:r>
              <a:rPr lang="pt-BR"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 e políticas de privacidade das ferramentas de IA, como chatbots e APIs, para saber como os dados são coletados e tratados.</a:t>
            </a:r>
            <a:endParaRPr i="0" sz="1200" u="none" cap="none" strike="noStrike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35" name="Google Shape;235;p28"/>
          <p:cNvSpPr txBox="1"/>
          <p:nvPr/>
        </p:nvSpPr>
        <p:spPr>
          <a:xfrm>
            <a:off x="5563375" y="1828950"/>
            <a:ext cx="2826000" cy="12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pt-BR"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Não confie cegamente nas respostas</a:t>
            </a:r>
            <a:r>
              <a:rPr lang="pt-BR"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 fornecidas pela IA: sempre revise, valide com documentação oficial ou outras fontes confiáveis e utilize seu senso crítico.</a:t>
            </a:r>
            <a:endParaRPr i="0" sz="1200" u="none" cap="none" strike="noStrike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36" name="Google Shape;236;p28"/>
          <p:cNvSpPr txBox="1"/>
          <p:nvPr/>
        </p:nvSpPr>
        <p:spPr>
          <a:xfrm>
            <a:off x="5563375" y="3216075"/>
            <a:ext cx="2826000" cy="12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pt-BR"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Mantenha o controle de versão</a:t>
            </a:r>
            <a:r>
              <a:rPr lang="pt-BR"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 (ex.: Git/GitHub) e documente seu processo de desenvolvimento, para que seja possível diferenciar o que foi construído por você e o que teve auxílio de IA.</a:t>
            </a:r>
            <a:endParaRPr i="0" sz="1200" u="none" cap="none" strike="noStrike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37" name="Google Shape;237;p28"/>
          <p:cNvSpPr txBox="1"/>
          <p:nvPr/>
        </p:nvSpPr>
        <p:spPr>
          <a:xfrm>
            <a:off x="754600" y="852225"/>
            <a:ext cx="4961100" cy="6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</a:pPr>
            <a:r>
              <a:rPr b="1" lang="pt-BR" sz="3900">
                <a:solidFill>
                  <a:srgbClr val="FF600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Recomendações de Segurança e Privacidade</a:t>
            </a:r>
            <a:endParaRPr b="0" i="0" sz="700" u="none" cap="none" strike="noStrike">
              <a:solidFill>
                <a:srgbClr val="FF600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28"/>
          <p:cNvSpPr/>
          <p:nvPr/>
        </p:nvSpPr>
        <p:spPr>
          <a:xfrm>
            <a:off x="6369950" y="-2210975"/>
            <a:ext cx="4057800" cy="3840900"/>
          </a:xfrm>
          <a:prstGeom prst="pie">
            <a:avLst>
              <a:gd fmla="val 5392061" name="adj1"/>
              <a:gd fmla="val 10790918" name="adj2"/>
            </a:avLst>
          </a:prstGeom>
          <a:solidFill>
            <a:srgbClr val="2323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28"/>
          <p:cNvSpPr/>
          <p:nvPr/>
        </p:nvSpPr>
        <p:spPr>
          <a:xfrm>
            <a:off x="8618900" y="-2210975"/>
            <a:ext cx="4057800" cy="3840900"/>
          </a:xfrm>
          <a:prstGeom prst="pie">
            <a:avLst>
              <a:gd fmla="val 5392061" name="adj1"/>
              <a:gd fmla="val 10790918" name="adj2"/>
            </a:avLst>
          </a:prstGeom>
          <a:solidFill>
            <a:srgbClr val="2323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28"/>
          <p:cNvSpPr/>
          <p:nvPr/>
        </p:nvSpPr>
        <p:spPr>
          <a:xfrm flipH="1">
            <a:off x="-3415675" y="2455350"/>
            <a:ext cx="4057800" cy="3840900"/>
          </a:xfrm>
          <a:prstGeom prst="pie">
            <a:avLst>
              <a:gd fmla="val 5392061" name="adj1"/>
              <a:gd fmla="val 10790918" name="adj2"/>
            </a:avLst>
          </a:prstGeom>
          <a:solidFill>
            <a:srgbClr val="2323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28"/>
          <p:cNvSpPr/>
          <p:nvPr/>
        </p:nvSpPr>
        <p:spPr>
          <a:xfrm flipH="1">
            <a:off x="-1227450" y="2982425"/>
            <a:ext cx="4057800" cy="3840900"/>
          </a:xfrm>
          <a:prstGeom prst="pie">
            <a:avLst>
              <a:gd fmla="val 5392061" name="adj1"/>
              <a:gd fmla="val 10790918" name="adj2"/>
            </a:avLst>
          </a:prstGeom>
          <a:solidFill>
            <a:srgbClr val="FF60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7EE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6" name="Google Shape;246;p29"/>
          <p:cNvPicPr preferRelativeResize="0"/>
          <p:nvPr/>
        </p:nvPicPr>
        <p:blipFill rotWithShape="1">
          <a:blip r:embed="rId3">
            <a:alphaModFix/>
          </a:blip>
          <a:srcRect b="9788" l="10016" r="16335" t="12717"/>
          <a:stretch/>
        </p:blipFill>
        <p:spPr>
          <a:xfrm>
            <a:off x="5340150" y="0"/>
            <a:ext cx="3257975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29"/>
          <p:cNvPicPr preferRelativeResize="0"/>
          <p:nvPr/>
        </p:nvPicPr>
        <p:blipFill rotWithShape="1">
          <a:blip r:embed="rId4">
            <a:alphaModFix/>
          </a:blip>
          <a:srcRect b="4955" l="0" r="0" t="4946"/>
          <a:stretch/>
        </p:blipFill>
        <p:spPr>
          <a:xfrm>
            <a:off x="0" y="0"/>
            <a:ext cx="565579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9"/>
          <p:cNvSpPr txBox="1"/>
          <p:nvPr/>
        </p:nvSpPr>
        <p:spPr>
          <a:xfrm>
            <a:off x="654850" y="1349375"/>
            <a:ext cx="3917100" cy="24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1" lang="pt-BR" sz="5400">
                <a:solidFill>
                  <a:srgbClr val="FF600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RISCOS DO </a:t>
            </a:r>
            <a:r>
              <a:rPr b="1" i="1" lang="pt-BR" sz="5400">
                <a:solidFill>
                  <a:srgbClr val="FF600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USO INADEQUADO DE IA</a:t>
            </a:r>
            <a:endParaRPr b="1" i="1" sz="5400" u="none" cap="none" strike="noStrike">
              <a:solidFill>
                <a:srgbClr val="FF600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pic>
        <p:nvPicPr>
          <p:cNvPr id="249" name="Google Shape;249;p29"/>
          <p:cNvPicPr preferRelativeResize="0"/>
          <p:nvPr/>
        </p:nvPicPr>
        <p:blipFill rotWithShape="1">
          <a:blip r:embed="rId5">
            <a:alphaModFix/>
          </a:blip>
          <a:srcRect b="0" l="0" r="38008" t="0"/>
          <a:stretch/>
        </p:blipFill>
        <p:spPr>
          <a:xfrm>
            <a:off x="8262075" y="0"/>
            <a:ext cx="881925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9"/>
          <p:cNvSpPr/>
          <p:nvPr/>
        </p:nvSpPr>
        <p:spPr>
          <a:xfrm rot="5400000">
            <a:off x="7957625" y="2592400"/>
            <a:ext cx="1513500" cy="1513500"/>
          </a:xfrm>
          <a:prstGeom prst="pie">
            <a:avLst>
              <a:gd fmla="val 5392061" name="adj1"/>
              <a:gd fmla="val 16238908" name="adj2"/>
            </a:avLst>
          </a:prstGeom>
          <a:solidFill>
            <a:srgbClr val="FF60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29"/>
          <p:cNvSpPr/>
          <p:nvPr/>
        </p:nvSpPr>
        <p:spPr>
          <a:xfrm rot="5400000">
            <a:off x="7979275" y="1807025"/>
            <a:ext cx="1513500" cy="1513500"/>
          </a:xfrm>
          <a:prstGeom prst="pie">
            <a:avLst>
              <a:gd fmla="val 5392061" name="adj1"/>
              <a:gd fmla="val 16238908" name="adj2"/>
            </a:avLst>
          </a:prstGeom>
          <a:solidFill>
            <a:srgbClr val="2323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29"/>
          <p:cNvSpPr/>
          <p:nvPr/>
        </p:nvSpPr>
        <p:spPr>
          <a:xfrm rot="5400000">
            <a:off x="3637150" y="3912950"/>
            <a:ext cx="2358300" cy="2446500"/>
          </a:xfrm>
          <a:prstGeom prst="pie">
            <a:avLst>
              <a:gd fmla="val 10761822" name="adj1"/>
              <a:gd fmla="val 16186354" name="adj2"/>
            </a:avLst>
          </a:prstGeom>
          <a:noFill/>
          <a:ln cap="flat" cmpd="sng" w="19050">
            <a:solidFill>
              <a:srgbClr val="FFB1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3" name="Google Shape;253;p2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55925" y="657575"/>
            <a:ext cx="556575" cy="496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7EE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0"/>
          <p:cNvSpPr txBox="1"/>
          <p:nvPr/>
        </p:nvSpPr>
        <p:spPr>
          <a:xfrm>
            <a:off x="3389400" y="2800350"/>
            <a:ext cx="2365200" cy="7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Garantir autoria e pensamento crítico: saber explicar o porquê do resultado.</a:t>
            </a:r>
            <a:endParaRPr sz="12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59" name="Google Shape;259;p30"/>
          <p:cNvSpPr txBox="1"/>
          <p:nvPr/>
        </p:nvSpPr>
        <p:spPr>
          <a:xfrm>
            <a:off x="675425" y="2800350"/>
            <a:ext cx="2365200" cy="10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Consolidar fundamentos (raciocínio, escrita, lógica, matemática) que não podem ser terceirizados.</a:t>
            </a:r>
            <a:endParaRPr sz="12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60" name="Google Shape;260;p30"/>
          <p:cNvSpPr txBox="1"/>
          <p:nvPr/>
        </p:nvSpPr>
        <p:spPr>
          <a:xfrm>
            <a:off x="6103375" y="2800350"/>
            <a:ext cx="2365200" cy="7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Treinar resiliência e depuração de erros, que é parte essencial do aprender.</a:t>
            </a:r>
            <a:endParaRPr sz="12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61" name="Google Shape;261;p30"/>
          <p:cNvSpPr/>
          <p:nvPr/>
        </p:nvSpPr>
        <p:spPr>
          <a:xfrm flipH="1" rot="5400000">
            <a:off x="4068950" y="814575"/>
            <a:ext cx="266700" cy="8404200"/>
          </a:xfrm>
          <a:prstGeom prst="round1Rect">
            <a:avLst>
              <a:gd fmla="val 41768" name="adj"/>
            </a:avLst>
          </a:prstGeom>
          <a:solidFill>
            <a:srgbClr val="FF60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30"/>
          <p:cNvSpPr/>
          <p:nvPr/>
        </p:nvSpPr>
        <p:spPr>
          <a:xfrm>
            <a:off x="3611550" y="-2224575"/>
            <a:ext cx="4057800" cy="3840900"/>
          </a:xfrm>
          <a:prstGeom prst="pie">
            <a:avLst>
              <a:gd fmla="val 5392061" name="adj1"/>
              <a:gd fmla="val 10790918" name="adj2"/>
            </a:avLst>
          </a:prstGeom>
          <a:solidFill>
            <a:srgbClr val="FB6B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30"/>
          <p:cNvSpPr/>
          <p:nvPr/>
        </p:nvSpPr>
        <p:spPr>
          <a:xfrm>
            <a:off x="5737844" y="-2224575"/>
            <a:ext cx="3840900" cy="3840900"/>
          </a:xfrm>
          <a:prstGeom prst="pie">
            <a:avLst>
              <a:gd fmla="val 21585769" name="adj1"/>
              <a:gd fmla="val 10790918" name="adj2"/>
            </a:avLst>
          </a:prstGeom>
          <a:solidFill>
            <a:srgbClr val="FB6B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30"/>
          <p:cNvSpPr txBox="1"/>
          <p:nvPr/>
        </p:nvSpPr>
        <p:spPr>
          <a:xfrm>
            <a:off x="675425" y="1549575"/>
            <a:ext cx="4924200" cy="114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</a:pPr>
            <a:r>
              <a:rPr b="1" lang="pt-BR" sz="3900">
                <a:solidFill>
                  <a:srgbClr val="191919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1. POR QUE AINDA FAZEMOS ATIVIDADES “MANUAIS”?</a:t>
            </a:r>
            <a:endParaRPr b="1" i="0" sz="3900" u="none" cap="none" strike="noStrike">
              <a:solidFill>
                <a:srgbClr val="191919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7EE"/>
        </a:solidFill>
      </p:bgPr>
    </p:bg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1"/>
          <p:cNvSpPr txBox="1"/>
          <p:nvPr/>
        </p:nvSpPr>
        <p:spPr>
          <a:xfrm>
            <a:off x="1515250" y="1828950"/>
            <a:ext cx="2826000" cy="7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Aprendizagem superficial e dependência ("atalho" sem domínio do conteúdo).</a:t>
            </a:r>
            <a:endParaRPr sz="12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70" name="Google Shape;270;p31"/>
          <p:cNvSpPr/>
          <p:nvPr/>
        </p:nvSpPr>
        <p:spPr>
          <a:xfrm>
            <a:off x="831625" y="1854746"/>
            <a:ext cx="494100" cy="776400"/>
          </a:xfrm>
          <a:prstGeom prst="roundRect">
            <a:avLst>
              <a:gd fmla="val 50000" name="adj"/>
            </a:avLst>
          </a:prstGeom>
          <a:solidFill>
            <a:srgbClr val="FF600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71" name="Google Shape;271;p31"/>
          <p:cNvGrpSpPr/>
          <p:nvPr/>
        </p:nvGrpSpPr>
        <p:grpSpPr>
          <a:xfrm>
            <a:off x="834804" y="3043197"/>
            <a:ext cx="487782" cy="631985"/>
            <a:chOff x="1824779" y="2909234"/>
            <a:chExt cx="487782" cy="631985"/>
          </a:xfrm>
        </p:grpSpPr>
        <p:sp>
          <p:nvSpPr>
            <p:cNvPr id="272" name="Google Shape;272;p31"/>
            <p:cNvSpPr/>
            <p:nvPr/>
          </p:nvSpPr>
          <p:spPr>
            <a:xfrm rot="-5400000">
              <a:off x="1946711" y="2787302"/>
              <a:ext cx="243918" cy="487782"/>
            </a:xfrm>
            <a:custGeom>
              <a:rect b="b" l="l" r="r" t="t"/>
              <a:pathLst>
                <a:path extrusionOk="0" h="21600" w="21600">
                  <a:moveTo>
                    <a:pt x="0" y="21600"/>
                  </a:moveTo>
                  <a:cubicBezTo>
                    <a:pt x="11927" y="21600"/>
                    <a:pt x="21600" y="16764"/>
                    <a:pt x="21600" y="10800"/>
                  </a:cubicBezTo>
                  <a:cubicBezTo>
                    <a:pt x="21600" y="4836"/>
                    <a:pt x="11927" y="0"/>
                    <a:pt x="0" y="0"/>
                  </a:cubicBezTo>
                  <a:lnTo>
                    <a:pt x="0" y="21600"/>
                  </a:lnTo>
                  <a:close/>
                </a:path>
              </a:pathLst>
            </a:custGeom>
            <a:solidFill>
              <a:srgbClr val="FF6002"/>
            </a:solidFill>
            <a:ln>
              <a:noFill/>
            </a:ln>
          </p:spPr>
          <p:txBody>
            <a:bodyPr anchorCtr="0" anchor="ctr" bIns="67725" lIns="67725" spcFirstLastPara="1" rIns="67725" wrap="square" tIns="677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4300"/>
                <a:buFont typeface="Helvetica Neue"/>
                <a:buNone/>
              </a:pPr>
              <a:r>
                <a:t/>
              </a:r>
              <a:endParaRPr b="0" i="0" sz="43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73" name="Google Shape;273;p31"/>
            <p:cNvSpPr/>
            <p:nvPr/>
          </p:nvSpPr>
          <p:spPr>
            <a:xfrm rot="-5400000">
              <a:off x="1946711" y="3175369"/>
              <a:ext cx="243918" cy="487782"/>
            </a:xfrm>
            <a:custGeom>
              <a:rect b="b" l="l" r="r" t="t"/>
              <a:pathLst>
                <a:path extrusionOk="0" h="21600" w="21600">
                  <a:moveTo>
                    <a:pt x="0" y="21600"/>
                  </a:moveTo>
                  <a:cubicBezTo>
                    <a:pt x="11927" y="21600"/>
                    <a:pt x="21600" y="16764"/>
                    <a:pt x="21600" y="10800"/>
                  </a:cubicBezTo>
                  <a:cubicBezTo>
                    <a:pt x="21600" y="4836"/>
                    <a:pt x="11927" y="0"/>
                    <a:pt x="0" y="0"/>
                  </a:cubicBezTo>
                  <a:lnTo>
                    <a:pt x="0" y="21600"/>
                  </a:lnTo>
                  <a:close/>
                </a:path>
              </a:pathLst>
            </a:custGeom>
            <a:solidFill>
              <a:srgbClr val="FF6002"/>
            </a:solidFill>
            <a:ln>
              <a:noFill/>
            </a:ln>
          </p:spPr>
          <p:txBody>
            <a:bodyPr anchorCtr="0" anchor="ctr" bIns="67725" lIns="67725" spcFirstLastPara="1" rIns="67725" wrap="square" tIns="677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4300"/>
                <a:buFont typeface="Helvetica Neue"/>
                <a:buNone/>
              </a:pPr>
              <a:r>
                <a:t/>
              </a:r>
              <a:endParaRPr b="0" i="0" sz="43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274" name="Google Shape;274;p31"/>
          <p:cNvGrpSpPr/>
          <p:nvPr/>
        </p:nvGrpSpPr>
        <p:grpSpPr>
          <a:xfrm>
            <a:off x="4881485" y="3043189"/>
            <a:ext cx="487782" cy="631985"/>
            <a:chOff x="6810747" y="2909239"/>
            <a:chExt cx="487782" cy="631985"/>
          </a:xfrm>
        </p:grpSpPr>
        <p:sp>
          <p:nvSpPr>
            <p:cNvPr id="275" name="Google Shape;275;p31"/>
            <p:cNvSpPr/>
            <p:nvPr/>
          </p:nvSpPr>
          <p:spPr>
            <a:xfrm rot="5400000">
              <a:off x="6932679" y="3175374"/>
              <a:ext cx="243918" cy="487782"/>
            </a:xfrm>
            <a:custGeom>
              <a:rect b="b" l="l" r="r" t="t"/>
              <a:pathLst>
                <a:path extrusionOk="0" h="21600" w="21600">
                  <a:moveTo>
                    <a:pt x="0" y="21600"/>
                  </a:moveTo>
                  <a:cubicBezTo>
                    <a:pt x="11927" y="21600"/>
                    <a:pt x="21600" y="16764"/>
                    <a:pt x="21600" y="10800"/>
                  </a:cubicBezTo>
                  <a:cubicBezTo>
                    <a:pt x="21600" y="4836"/>
                    <a:pt x="11927" y="0"/>
                    <a:pt x="0" y="0"/>
                  </a:cubicBezTo>
                  <a:lnTo>
                    <a:pt x="0" y="21600"/>
                  </a:lnTo>
                  <a:close/>
                </a:path>
              </a:pathLst>
            </a:custGeom>
            <a:solidFill>
              <a:srgbClr val="FF6002"/>
            </a:solidFill>
            <a:ln>
              <a:noFill/>
            </a:ln>
          </p:spPr>
          <p:txBody>
            <a:bodyPr anchorCtr="0" anchor="ctr" bIns="67725" lIns="67725" spcFirstLastPara="1" rIns="67725" wrap="square" tIns="677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4300"/>
                <a:buFont typeface="Helvetica Neue"/>
                <a:buNone/>
              </a:pPr>
              <a:r>
                <a:t/>
              </a:r>
              <a:endParaRPr b="0" i="0" sz="43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76" name="Google Shape;276;p31"/>
            <p:cNvSpPr/>
            <p:nvPr/>
          </p:nvSpPr>
          <p:spPr>
            <a:xfrm rot="5400000">
              <a:off x="6932679" y="2787307"/>
              <a:ext cx="243918" cy="487782"/>
            </a:xfrm>
            <a:custGeom>
              <a:rect b="b" l="l" r="r" t="t"/>
              <a:pathLst>
                <a:path extrusionOk="0" h="21600" w="21600">
                  <a:moveTo>
                    <a:pt x="0" y="21600"/>
                  </a:moveTo>
                  <a:cubicBezTo>
                    <a:pt x="11927" y="21600"/>
                    <a:pt x="21600" y="16764"/>
                    <a:pt x="21600" y="10800"/>
                  </a:cubicBezTo>
                  <a:cubicBezTo>
                    <a:pt x="21600" y="4836"/>
                    <a:pt x="11927" y="0"/>
                    <a:pt x="0" y="0"/>
                  </a:cubicBezTo>
                  <a:lnTo>
                    <a:pt x="0" y="21600"/>
                  </a:lnTo>
                  <a:close/>
                </a:path>
              </a:pathLst>
            </a:custGeom>
            <a:solidFill>
              <a:srgbClr val="FF6002"/>
            </a:solidFill>
            <a:ln>
              <a:noFill/>
            </a:ln>
          </p:spPr>
          <p:txBody>
            <a:bodyPr anchorCtr="0" anchor="ctr" bIns="67725" lIns="67725" spcFirstLastPara="1" rIns="67725" wrap="square" tIns="677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4300"/>
                <a:buFont typeface="Helvetica Neue"/>
                <a:buNone/>
              </a:pPr>
              <a:r>
                <a:t/>
              </a:r>
              <a:endParaRPr b="0" i="0" sz="43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sp>
        <p:nvSpPr>
          <p:cNvPr id="277" name="Google Shape;277;p31"/>
          <p:cNvSpPr/>
          <p:nvPr/>
        </p:nvSpPr>
        <p:spPr>
          <a:xfrm rot="10800000">
            <a:off x="4860771" y="1936046"/>
            <a:ext cx="529200" cy="529200"/>
          </a:xfrm>
          <a:prstGeom prst="ellipse">
            <a:avLst/>
          </a:prstGeom>
          <a:solidFill>
            <a:srgbClr val="FF600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31"/>
          <p:cNvSpPr txBox="1"/>
          <p:nvPr/>
        </p:nvSpPr>
        <p:spPr>
          <a:xfrm>
            <a:off x="1515250" y="2987475"/>
            <a:ext cx="28260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Alucinações e erros factuais se não houver verificação.</a:t>
            </a:r>
            <a:endParaRPr sz="12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79" name="Google Shape;279;p31"/>
          <p:cNvSpPr txBox="1"/>
          <p:nvPr/>
        </p:nvSpPr>
        <p:spPr>
          <a:xfrm>
            <a:off x="5563375" y="1828950"/>
            <a:ext cx="28260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Vazamento de dados sensíveis e infração de NDA/direitos autorais.</a:t>
            </a:r>
            <a:endParaRPr sz="12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80" name="Google Shape;280;p31"/>
          <p:cNvSpPr txBox="1"/>
          <p:nvPr/>
        </p:nvSpPr>
        <p:spPr>
          <a:xfrm>
            <a:off x="5563375" y="2987475"/>
            <a:ext cx="28260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Perda de autoria acadêmica e problemas de integridade (plágio).</a:t>
            </a:r>
            <a:endParaRPr sz="12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81" name="Google Shape;281;p31"/>
          <p:cNvSpPr/>
          <p:nvPr/>
        </p:nvSpPr>
        <p:spPr>
          <a:xfrm>
            <a:off x="6369950" y="-2210975"/>
            <a:ext cx="4057800" cy="3840900"/>
          </a:xfrm>
          <a:prstGeom prst="pie">
            <a:avLst>
              <a:gd fmla="val 5392061" name="adj1"/>
              <a:gd fmla="val 10790918" name="adj2"/>
            </a:avLst>
          </a:prstGeom>
          <a:solidFill>
            <a:srgbClr val="2323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31"/>
          <p:cNvSpPr/>
          <p:nvPr/>
        </p:nvSpPr>
        <p:spPr>
          <a:xfrm>
            <a:off x="8618900" y="-2210975"/>
            <a:ext cx="4057800" cy="3840900"/>
          </a:xfrm>
          <a:prstGeom prst="pie">
            <a:avLst>
              <a:gd fmla="val 5392061" name="adj1"/>
              <a:gd fmla="val 10790918" name="adj2"/>
            </a:avLst>
          </a:prstGeom>
          <a:solidFill>
            <a:srgbClr val="2323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31"/>
          <p:cNvSpPr/>
          <p:nvPr/>
        </p:nvSpPr>
        <p:spPr>
          <a:xfrm flipH="1">
            <a:off x="-3415675" y="2455350"/>
            <a:ext cx="4057800" cy="3840900"/>
          </a:xfrm>
          <a:prstGeom prst="pie">
            <a:avLst>
              <a:gd fmla="val 5392061" name="adj1"/>
              <a:gd fmla="val 10790918" name="adj2"/>
            </a:avLst>
          </a:prstGeom>
          <a:solidFill>
            <a:srgbClr val="2323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31"/>
          <p:cNvSpPr/>
          <p:nvPr/>
        </p:nvSpPr>
        <p:spPr>
          <a:xfrm flipH="1">
            <a:off x="-1227450" y="2982425"/>
            <a:ext cx="4057800" cy="3840900"/>
          </a:xfrm>
          <a:prstGeom prst="pie">
            <a:avLst>
              <a:gd fmla="val 5392061" name="adj1"/>
              <a:gd fmla="val 10790918" name="adj2"/>
            </a:avLst>
          </a:prstGeom>
          <a:solidFill>
            <a:srgbClr val="FF60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31"/>
          <p:cNvSpPr txBox="1"/>
          <p:nvPr/>
        </p:nvSpPr>
        <p:spPr>
          <a:xfrm>
            <a:off x="675425" y="434575"/>
            <a:ext cx="3982500" cy="114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</a:pPr>
            <a:r>
              <a:rPr b="1" lang="pt-BR" sz="3900">
                <a:solidFill>
                  <a:srgbClr val="191919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2. RISCOS DE USAR IA “DO JEITO ERRADO”</a:t>
            </a:r>
            <a:endParaRPr b="1" i="0" sz="3900" u="none" cap="none" strike="noStrike">
              <a:solidFill>
                <a:srgbClr val="191919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286" name="Google Shape;286;p31"/>
          <p:cNvSpPr txBox="1"/>
          <p:nvPr/>
        </p:nvSpPr>
        <p:spPr>
          <a:xfrm>
            <a:off x="5544400" y="4038000"/>
            <a:ext cx="28260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Viés nos dados/modelos afetando resultados e decisões.</a:t>
            </a:r>
            <a:endParaRPr sz="12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87" name="Google Shape;287;p31"/>
          <p:cNvSpPr/>
          <p:nvPr/>
        </p:nvSpPr>
        <p:spPr>
          <a:xfrm>
            <a:off x="4860775" y="3987596"/>
            <a:ext cx="494100" cy="776400"/>
          </a:xfrm>
          <a:prstGeom prst="roundRect">
            <a:avLst>
              <a:gd fmla="val 50000" name="adj"/>
            </a:avLst>
          </a:prstGeom>
          <a:solidFill>
            <a:srgbClr val="FF600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7EE"/>
        </a:solidFill>
      </p:bgPr>
    </p:bg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2" name="Google Shape;292;p32"/>
          <p:cNvPicPr preferRelativeResize="0"/>
          <p:nvPr/>
        </p:nvPicPr>
        <p:blipFill rotWithShape="1">
          <a:blip r:embed="rId3">
            <a:alphaModFix/>
          </a:blip>
          <a:srcRect b="9788" l="10016" r="16335" t="12717"/>
          <a:stretch/>
        </p:blipFill>
        <p:spPr>
          <a:xfrm>
            <a:off x="5340150" y="0"/>
            <a:ext cx="3257975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32"/>
          <p:cNvPicPr preferRelativeResize="0"/>
          <p:nvPr/>
        </p:nvPicPr>
        <p:blipFill rotWithShape="1">
          <a:blip r:embed="rId4">
            <a:alphaModFix/>
          </a:blip>
          <a:srcRect b="4955" l="0" r="0" t="4946"/>
          <a:stretch/>
        </p:blipFill>
        <p:spPr>
          <a:xfrm>
            <a:off x="0" y="0"/>
            <a:ext cx="565579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32"/>
          <p:cNvSpPr txBox="1"/>
          <p:nvPr/>
        </p:nvSpPr>
        <p:spPr>
          <a:xfrm>
            <a:off x="654850" y="1349375"/>
            <a:ext cx="3917100" cy="16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1" lang="pt-BR" sz="5400">
                <a:solidFill>
                  <a:srgbClr val="FF600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USO ADEQUADO DE IA</a:t>
            </a:r>
            <a:endParaRPr b="1" i="1" sz="5400" u="none" cap="none" strike="noStrike">
              <a:solidFill>
                <a:srgbClr val="FF600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pic>
        <p:nvPicPr>
          <p:cNvPr id="295" name="Google Shape;295;p32"/>
          <p:cNvPicPr preferRelativeResize="0"/>
          <p:nvPr/>
        </p:nvPicPr>
        <p:blipFill rotWithShape="1">
          <a:blip r:embed="rId5">
            <a:alphaModFix/>
          </a:blip>
          <a:srcRect b="0" l="0" r="38008" t="0"/>
          <a:stretch/>
        </p:blipFill>
        <p:spPr>
          <a:xfrm>
            <a:off x="8262075" y="0"/>
            <a:ext cx="881925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32"/>
          <p:cNvSpPr/>
          <p:nvPr/>
        </p:nvSpPr>
        <p:spPr>
          <a:xfrm rot="5400000">
            <a:off x="7957625" y="2592400"/>
            <a:ext cx="1513500" cy="1513500"/>
          </a:xfrm>
          <a:prstGeom prst="pie">
            <a:avLst>
              <a:gd fmla="val 5392061" name="adj1"/>
              <a:gd fmla="val 16238908" name="adj2"/>
            </a:avLst>
          </a:prstGeom>
          <a:solidFill>
            <a:srgbClr val="FF60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32"/>
          <p:cNvSpPr/>
          <p:nvPr/>
        </p:nvSpPr>
        <p:spPr>
          <a:xfrm rot="5400000">
            <a:off x="7979275" y="1807025"/>
            <a:ext cx="1513500" cy="1513500"/>
          </a:xfrm>
          <a:prstGeom prst="pie">
            <a:avLst>
              <a:gd fmla="val 5392061" name="adj1"/>
              <a:gd fmla="val 16238908" name="adj2"/>
            </a:avLst>
          </a:prstGeom>
          <a:solidFill>
            <a:srgbClr val="2323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32"/>
          <p:cNvSpPr/>
          <p:nvPr/>
        </p:nvSpPr>
        <p:spPr>
          <a:xfrm rot="5400000">
            <a:off x="3637150" y="3912950"/>
            <a:ext cx="2358300" cy="2446500"/>
          </a:xfrm>
          <a:prstGeom prst="pie">
            <a:avLst>
              <a:gd fmla="val 10761822" name="adj1"/>
              <a:gd fmla="val 16186354" name="adj2"/>
            </a:avLst>
          </a:prstGeom>
          <a:noFill/>
          <a:ln cap="flat" cmpd="sng" w="19050">
            <a:solidFill>
              <a:srgbClr val="FFB1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9" name="Google Shape;299;p3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55925" y="657575"/>
            <a:ext cx="556575" cy="496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7EE"/>
        </a:solidFill>
      </p:bgPr>
    </p:bg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3"/>
          <p:cNvSpPr txBox="1"/>
          <p:nvPr/>
        </p:nvSpPr>
        <p:spPr>
          <a:xfrm>
            <a:off x="675425" y="909400"/>
            <a:ext cx="3207900" cy="114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</a:pPr>
            <a:r>
              <a:rPr b="1" lang="pt-BR" sz="3900">
                <a:solidFill>
                  <a:srgbClr val="191919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1. PARA ESTUDOS E APRENDIZADO</a:t>
            </a:r>
            <a:endParaRPr b="1" i="0" sz="3900" u="none" cap="none" strike="noStrike">
              <a:solidFill>
                <a:srgbClr val="191919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305" name="Google Shape;305;p33"/>
          <p:cNvSpPr txBox="1"/>
          <p:nvPr/>
        </p:nvSpPr>
        <p:spPr>
          <a:xfrm>
            <a:off x="675425" y="2196150"/>
            <a:ext cx="2365200" cy="4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lang="pt-BR" sz="2300">
                <a:solidFill>
                  <a:srgbClr val="FF6002"/>
                </a:solidFill>
                <a:latin typeface="Barlow Condensed Medium"/>
                <a:ea typeface="Barlow Condensed Medium"/>
                <a:cs typeface="Barlow Condensed Medium"/>
                <a:sym typeface="Barlow Condensed Medium"/>
              </a:rPr>
              <a:t>TIRAR DÚVIDAS</a:t>
            </a:r>
            <a:endParaRPr b="0" i="0" sz="2300" u="none" cap="none" strike="noStrike">
              <a:solidFill>
                <a:srgbClr val="FF6002"/>
              </a:solidFill>
              <a:latin typeface="Barlow Condensed Medium"/>
              <a:ea typeface="Barlow Condensed Medium"/>
              <a:cs typeface="Barlow Condensed Medium"/>
              <a:sym typeface="Barlow Condensed Medium"/>
            </a:endParaRPr>
          </a:p>
        </p:txBody>
      </p:sp>
      <p:sp>
        <p:nvSpPr>
          <p:cNvPr id="306" name="Google Shape;306;p33"/>
          <p:cNvSpPr txBox="1"/>
          <p:nvPr/>
        </p:nvSpPr>
        <p:spPr>
          <a:xfrm>
            <a:off x="675425" y="2947350"/>
            <a:ext cx="2365200" cy="10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Use a IA para esclarecer conceitos ou obter explicações adicionais sobre temas abordados em aula.</a:t>
            </a:r>
            <a:endParaRPr b="0" i="0" sz="1100" u="none" cap="none" strike="noStrike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07" name="Google Shape;307;p33"/>
          <p:cNvSpPr txBox="1"/>
          <p:nvPr/>
        </p:nvSpPr>
        <p:spPr>
          <a:xfrm>
            <a:off x="3389400" y="2196150"/>
            <a:ext cx="2365200" cy="7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lang="pt-BR" sz="2300">
                <a:solidFill>
                  <a:srgbClr val="FF6002"/>
                </a:solidFill>
                <a:latin typeface="Barlow Condensed Medium"/>
                <a:ea typeface="Barlow Condensed Medium"/>
                <a:cs typeface="Barlow Condensed Medium"/>
                <a:sym typeface="Barlow Condensed Medium"/>
              </a:rPr>
              <a:t>CONSULTAR DEFINIÇÕES</a:t>
            </a:r>
            <a:endParaRPr b="0" i="0" sz="2300" u="none" cap="none" strike="noStrike">
              <a:solidFill>
                <a:srgbClr val="FF6002"/>
              </a:solidFill>
              <a:latin typeface="Barlow Condensed Medium"/>
              <a:ea typeface="Barlow Condensed Medium"/>
              <a:cs typeface="Barlow Condensed Medium"/>
              <a:sym typeface="Barlow Condensed Medium"/>
            </a:endParaRPr>
          </a:p>
        </p:txBody>
      </p:sp>
      <p:sp>
        <p:nvSpPr>
          <p:cNvPr id="308" name="Google Shape;308;p33"/>
          <p:cNvSpPr txBox="1"/>
          <p:nvPr/>
        </p:nvSpPr>
        <p:spPr>
          <a:xfrm>
            <a:off x="3389400" y="2947350"/>
            <a:ext cx="2365200" cy="10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Peça exemplos ou explicações sobre termos técnicos, como "front-end", "back-end" ou "controle de versão".</a:t>
            </a:r>
            <a:endParaRPr b="0" i="0" sz="1100" u="none" cap="none" strike="noStrike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09" name="Google Shape;309;p33"/>
          <p:cNvSpPr txBox="1"/>
          <p:nvPr/>
        </p:nvSpPr>
        <p:spPr>
          <a:xfrm>
            <a:off x="6103375" y="2196150"/>
            <a:ext cx="2365200" cy="7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lang="pt-BR" sz="2300">
                <a:solidFill>
                  <a:srgbClr val="FF6002"/>
                </a:solidFill>
                <a:latin typeface="Barlow Condensed Medium"/>
                <a:ea typeface="Barlow Condensed Medium"/>
                <a:cs typeface="Barlow Condensed Medium"/>
                <a:sym typeface="Barlow Condensed Medium"/>
              </a:rPr>
              <a:t>APRENDER TÉCNICAS AVANÇADAS</a:t>
            </a:r>
            <a:endParaRPr b="0" i="0" sz="2300" u="none" cap="none" strike="noStrike">
              <a:solidFill>
                <a:srgbClr val="FF6002"/>
              </a:solidFill>
              <a:latin typeface="Barlow Condensed Medium"/>
              <a:ea typeface="Barlow Condensed Medium"/>
              <a:cs typeface="Barlow Condensed Medium"/>
              <a:sym typeface="Barlow Condensed Medium"/>
            </a:endParaRPr>
          </a:p>
        </p:txBody>
      </p:sp>
      <p:sp>
        <p:nvSpPr>
          <p:cNvPr id="310" name="Google Shape;310;p33"/>
          <p:cNvSpPr txBox="1"/>
          <p:nvPr/>
        </p:nvSpPr>
        <p:spPr>
          <a:xfrm>
            <a:off x="6103375" y="2947350"/>
            <a:ext cx="2365200" cy="10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Use a IA para explorar técnicas de programação ou tecnologias que vão além do conteúdo da disciplina.</a:t>
            </a:r>
            <a:endParaRPr b="0" i="0" sz="1100" u="none" cap="none" strike="noStrike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11" name="Google Shape;311;p33"/>
          <p:cNvSpPr/>
          <p:nvPr/>
        </p:nvSpPr>
        <p:spPr>
          <a:xfrm flipH="1" rot="5400000">
            <a:off x="4068950" y="814575"/>
            <a:ext cx="266700" cy="8404200"/>
          </a:xfrm>
          <a:prstGeom prst="round1Rect">
            <a:avLst>
              <a:gd fmla="val 41768" name="adj"/>
            </a:avLst>
          </a:prstGeom>
          <a:solidFill>
            <a:srgbClr val="FF60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33"/>
          <p:cNvSpPr/>
          <p:nvPr/>
        </p:nvSpPr>
        <p:spPr>
          <a:xfrm>
            <a:off x="3611550" y="-2224575"/>
            <a:ext cx="4057800" cy="3840900"/>
          </a:xfrm>
          <a:prstGeom prst="pie">
            <a:avLst>
              <a:gd fmla="val 5392061" name="adj1"/>
              <a:gd fmla="val 10790918" name="adj2"/>
            </a:avLst>
          </a:prstGeom>
          <a:solidFill>
            <a:srgbClr val="FB6B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33"/>
          <p:cNvSpPr/>
          <p:nvPr/>
        </p:nvSpPr>
        <p:spPr>
          <a:xfrm>
            <a:off x="5737844" y="-2224575"/>
            <a:ext cx="3840900" cy="3840900"/>
          </a:xfrm>
          <a:prstGeom prst="pie">
            <a:avLst>
              <a:gd fmla="val 21585769" name="adj1"/>
              <a:gd fmla="val 10790918" name="adj2"/>
            </a:avLst>
          </a:prstGeom>
          <a:solidFill>
            <a:srgbClr val="FB6B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7EE"/>
        </a:solidFill>
      </p:bgPr>
    </p:bg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34"/>
          <p:cNvSpPr txBox="1"/>
          <p:nvPr/>
        </p:nvSpPr>
        <p:spPr>
          <a:xfrm>
            <a:off x="675425" y="909400"/>
            <a:ext cx="3207900" cy="114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</a:pPr>
            <a:r>
              <a:rPr b="1" lang="pt-BR" sz="3900">
                <a:solidFill>
                  <a:srgbClr val="191919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1. PARA ESTUDOS E APRENDIZADO</a:t>
            </a:r>
            <a:endParaRPr b="1" i="0" sz="3900" u="none" cap="none" strike="noStrike">
              <a:solidFill>
                <a:srgbClr val="191919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319" name="Google Shape;319;p34"/>
          <p:cNvSpPr txBox="1"/>
          <p:nvPr/>
        </p:nvSpPr>
        <p:spPr>
          <a:xfrm>
            <a:off x="675425" y="2196150"/>
            <a:ext cx="2584200" cy="4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lang="pt-BR" sz="2300">
                <a:solidFill>
                  <a:srgbClr val="FF6002"/>
                </a:solidFill>
                <a:latin typeface="Barlow Condensed Medium"/>
                <a:ea typeface="Barlow Condensed Medium"/>
                <a:cs typeface="Barlow Condensed Medium"/>
                <a:sym typeface="Barlow Condensed Medium"/>
              </a:rPr>
              <a:t>Study Mode (ChatGPT)</a:t>
            </a:r>
            <a:endParaRPr b="0" i="0" sz="2300" u="none" cap="none" strike="noStrike">
              <a:solidFill>
                <a:srgbClr val="FF6002"/>
              </a:solidFill>
              <a:latin typeface="Barlow Condensed Medium"/>
              <a:ea typeface="Barlow Condensed Medium"/>
              <a:cs typeface="Barlow Condensed Medium"/>
              <a:sym typeface="Barlow Condensed Medium"/>
            </a:endParaRPr>
          </a:p>
        </p:txBody>
      </p:sp>
      <p:sp>
        <p:nvSpPr>
          <p:cNvPr id="320" name="Google Shape;320;p34"/>
          <p:cNvSpPr txBox="1"/>
          <p:nvPr/>
        </p:nvSpPr>
        <p:spPr>
          <a:xfrm>
            <a:off x="675425" y="2947350"/>
            <a:ext cx="2365200" cy="13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Focado em raciocínio passo a passo, perguntas socráticas e checagens de compreensão.</a:t>
            </a:r>
            <a:endParaRPr sz="12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Estimula planejamento em vez de entregar respostas prontas.</a:t>
            </a:r>
            <a:endParaRPr sz="12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21" name="Google Shape;321;p34"/>
          <p:cNvSpPr txBox="1"/>
          <p:nvPr/>
        </p:nvSpPr>
        <p:spPr>
          <a:xfrm>
            <a:off x="3389400" y="2196150"/>
            <a:ext cx="2365200" cy="4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lang="pt-BR" sz="2300">
                <a:solidFill>
                  <a:srgbClr val="FF6002"/>
                </a:solidFill>
                <a:latin typeface="Barlow Condensed Medium"/>
                <a:ea typeface="Barlow Condensed Medium"/>
                <a:cs typeface="Barlow Condensed Medium"/>
                <a:sym typeface="Barlow Condensed Medium"/>
              </a:rPr>
              <a:t>NotebookLM (Google)</a:t>
            </a:r>
            <a:endParaRPr b="0" i="0" sz="2300" u="none" cap="none" strike="noStrike">
              <a:solidFill>
                <a:srgbClr val="FF6002"/>
              </a:solidFill>
              <a:latin typeface="Barlow Condensed Medium"/>
              <a:ea typeface="Barlow Condensed Medium"/>
              <a:cs typeface="Barlow Condensed Medium"/>
              <a:sym typeface="Barlow Condensed Medium"/>
            </a:endParaRPr>
          </a:p>
        </p:txBody>
      </p:sp>
      <p:sp>
        <p:nvSpPr>
          <p:cNvPr id="322" name="Google Shape;322;p34"/>
          <p:cNvSpPr txBox="1"/>
          <p:nvPr/>
        </p:nvSpPr>
        <p:spPr>
          <a:xfrm>
            <a:off x="3389400" y="2947350"/>
            <a:ext cx="2365200" cy="15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Organiza fontes (PDFs, Docs, sites) e gera resumos/insights a partir do seu próprio material.</a:t>
            </a:r>
            <a:endParaRPr sz="12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Pode ser usado para sintetizar informações, e treinar a partir de exercícios.</a:t>
            </a:r>
            <a:endParaRPr sz="12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23" name="Google Shape;323;p34"/>
          <p:cNvSpPr txBox="1"/>
          <p:nvPr/>
        </p:nvSpPr>
        <p:spPr>
          <a:xfrm>
            <a:off x="6103375" y="2196150"/>
            <a:ext cx="2365200" cy="4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lang="pt-BR" sz="2300">
                <a:solidFill>
                  <a:srgbClr val="FF6002"/>
                </a:solidFill>
                <a:latin typeface="Barlow Condensed Medium"/>
                <a:ea typeface="Barlow Condensed Medium"/>
                <a:cs typeface="Barlow Condensed Medium"/>
                <a:sym typeface="Barlow Condensed Medium"/>
              </a:rPr>
              <a:t>Consensus</a:t>
            </a:r>
            <a:endParaRPr b="0" i="0" sz="2300" u="none" cap="none" strike="noStrike">
              <a:solidFill>
                <a:srgbClr val="FF6002"/>
              </a:solidFill>
              <a:latin typeface="Barlow Condensed Medium"/>
              <a:ea typeface="Barlow Condensed Medium"/>
              <a:cs typeface="Barlow Condensed Medium"/>
              <a:sym typeface="Barlow Condensed Medium"/>
            </a:endParaRPr>
          </a:p>
        </p:txBody>
      </p:sp>
      <p:sp>
        <p:nvSpPr>
          <p:cNvPr id="324" name="Google Shape;324;p34"/>
          <p:cNvSpPr txBox="1"/>
          <p:nvPr/>
        </p:nvSpPr>
        <p:spPr>
          <a:xfrm>
            <a:off x="6103375" y="2947350"/>
            <a:ext cx="2365200" cy="13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Busca respostas em artigos científicos; mostra evidências e citações.</a:t>
            </a:r>
            <a:endParaRPr sz="12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Sempre baseado em dados e fontes confiáveis.</a:t>
            </a:r>
            <a:endParaRPr sz="12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25" name="Google Shape;325;p34"/>
          <p:cNvSpPr/>
          <p:nvPr/>
        </p:nvSpPr>
        <p:spPr>
          <a:xfrm flipH="1" rot="5400000">
            <a:off x="4068950" y="814575"/>
            <a:ext cx="266700" cy="8404200"/>
          </a:xfrm>
          <a:prstGeom prst="round1Rect">
            <a:avLst>
              <a:gd fmla="val 41768" name="adj"/>
            </a:avLst>
          </a:prstGeom>
          <a:solidFill>
            <a:srgbClr val="FF60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34"/>
          <p:cNvSpPr/>
          <p:nvPr/>
        </p:nvSpPr>
        <p:spPr>
          <a:xfrm>
            <a:off x="3611550" y="-2224575"/>
            <a:ext cx="4057800" cy="3840900"/>
          </a:xfrm>
          <a:prstGeom prst="pie">
            <a:avLst>
              <a:gd fmla="val 5392061" name="adj1"/>
              <a:gd fmla="val 10790918" name="adj2"/>
            </a:avLst>
          </a:prstGeom>
          <a:solidFill>
            <a:srgbClr val="FB6B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34"/>
          <p:cNvSpPr/>
          <p:nvPr/>
        </p:nvSpPr>
        <p:spPr>
          <a:xfrm>
            <a:off x="5737844" y="-2224575"/>
            <a:ext cx="3840900" cy="3840900"/>
          </a:xfrm>
          <a:prstGeom prst="pie">
            <a:avLst>
              <a:gd fmla="val 21585769" name="adj1"/>
              <a:gd fmla="val 10790918" name="adj2"/>
            </a:avLst>
          </a:prstGeom>
          <a:solidFill>
            <a:srgbClr val="FB6B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7EE"/>
        </a:solid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35"/>
          <p:cNvSpPr/>
          <p:nvPr/>
        </p:nvSpPr>
        <p:spPr>
          <a:xfrm>
            <a:off x="3611550" y="-2224575"/>
            <a:ext cx="4057800" cy="3840900"/>
          </a:xfrm>
          <a:prstGeom prst="pie">
            <a:avLst>
              <a:gd fmla="val 5392061" name="adj1"/>
              <a:gd fmla="val 10790918" name="adj2"/>
            </a:avLst>
          </a:prstGeom>
          <a:solidFill>
            <a:srgbClr val="FB6B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35"/>
          <p:cNvSpPr txBox="1"/>
          <p:nvPr/>
        </p:nvSpPr>
        <p:spPr>
          <a:xfrm>
            <a:off x="675425" y="909400"/>
            <a:ext cx="5033100" cy="114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</a:pPr>
            <a:r>
              <a:rPr b="1" lang="pt-BR" sz="3900">
                <a:solidFill>
                  <a:srgbClr val="191919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2. </a:t>
            </a:r>
            <a:r>
              <a:rPr b="1" lang="pt-BR" sz="3900">
                <a:solidFill>
                  <a:srgbClr val="191919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PARA DESENVOLVIMENTO DE CÓDIGOS</a:t>
            </a:r>
            <a:endParaRPr b="1" i="0" sz="3900" u="none" cap="none" strike="noStrike">
              <a:solidFill>
                <a:srgbClr val="191919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334" name="Google Shape;334;p35"/>
          <p:cNvSpPr txBox="1"/>
          <p:nvPr/>
        </p:nvSpPr>
        <p:spPr>
          <a:xfrm>
            <a:off x="675425" y="2196150"/>
            <a:ext cx="2365200" cy="4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lang="pt-BR" sz="2300">
                <a:solidFill>
                  <a:srgbClr val="FF6002"/>
                </a:solidFill>
                <a:latin typeface="Barlow Condensed Medium"/>
                <a:ea typeface="Barlow Condensed Medium"/>
                <a:cs typeface="Barlow Condensed Medium"/>
                <a:sym typeface="Barlow Condensed Medium"/>
              </a:rPr>
              <a:t>EXEMPLOS DE CÓDIGO</a:t>
            </a:r>
            <a:endParaRPr b="0" i="0" sz="2300" u="none" cap="none" strike="noStrike">
              <a:solidFill>
                <a:srgbClr val="FF6002"/>
              </a:solidFill>
              <a:latin typeface="Barlow Condensed Medium"/>
              <a:ea typeface="Barlow Condensed Medium"/>
              <a:cs typeface="Barlow Condensed Medium"/>
              <a:sym typeface="Barlow Condensed Medium"/>
            </a:endParaRPr>
          </a:p>
        </p:txBody>
      </p:sp>
      <p:sp>
        <p:nvSpPr>
          <p:cNvPr id="335" name="Google Shape;335;p35"/>
          <p:cNvSpPr txBox="1"/>
          <p:nvPr/>
        </p:nvSpPr>
        <p:spPr>
          <a:xfrm>
            <a:off x="675425" y="2947350"/>
            <a:ext cx="2365200" cy="12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Peça exemplos de código para entender como uma função específica funciona, mas sempre adapte e personalize o código para o seu contexto.</a:t>
            </a:r>
            <a:endParaRPr b="0" i="0" sz="1100" u="none" cap="none" strike="noStrike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36" name="Google Shape;336;p35"/>
          <p:cNvSpPr txBox="1"/>
          <p:nvPr/>
        </p:nvSpPr>
        <p:spPr>
          <a:xfrm>
            <a:off x="3389400" y="2196150"/>
            <a:ext cx="2365200" cy="7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lang="pt-BR" sz="2300">
                <a:solidFill>
                  <a:srgbClr val="FF6002"/>
                </a:solidFill>
                <a:latin typeface="Barlow Condensed Medium"/>
                <a:ea typeface="Barlow Condensed Medium"/>
                <a:cs typeface="Barlow Condensed Medium"/>
                <a:sym typeface="Barlow Condensed Medium"/>
              </a:rPr>
              <a:t>TRATAMENTO DE ERROS</a:t>
            </a:r>
            <a:endParaRPr b="0" i="0" sz="2300" u="none" cap="none" strike="noStrike">
              <a:solidFill>
                <a:srgbClr val="FF6002"/>
              </a:solidFill>
              <a:latin typeface="Barlow Condensed Medium"/>
              <a:ea typeface="Barlow Condensed Medium"/>
              <a:cs typeface="Barlow Condensed Medium"/>
              <a:sym typeface="Barlow Condensed Medium"/>
            </a:endParaRPr>
          </a:p>
        </p:txBody>
      </p:sp>
      <p:sp>
        <p:nvSpPr>
          <p:cNvPr id="337" name="Google Shape;337;p35"/>
          <p:cNvSpPr txBox="1"/>
          <p:nvPr/>
        </p:nvSpPr>
        <p:spPr>
          <a:xfrm>
            <a:off x="3389400" y="2947350"/>
            <a:ext cx="2365200" cy="12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Use a IA para identificar possíveis soluções para erros de código, mas tente entender o motivo do erro antes de aplicar a correção.</a:t>
            </a:r>
            <a:endParaRPr b="0" i="0" sz="1100" u="none" cap="none" strike="noStrike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38" name="Google Shape;338;p35"/>
          <p:cNvSpPr txBox="1"/>
          <p:nvPr/>
        </p:nvSpPr>
        <p:spPr>
          <a:xfrm>
            <a:off x="6103375" y="2196150"/>
            <a:ext cx="2365200" cy="4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lang="pt-BR" sz="2300">
                <a:solidFill>
                  <a:srgbClr val="FF6002"/>
                </a:solidFill>
                <a:latin typeface="Barlow Condensed Medium"/>
                <a:ea typeface="Barlow Condensed Medium"/>
                <a:cs typeface="Barlow Condensed Medium"/>
                <a:sym typeface="Barlow Condensed Medium"/>
              </a:rPr>
              <a:t>REVISÃO DE CÓDIGO</a:t>
            </a:r>
            <a:endParaRPr b="0" i="0" sz="2300" u="none" cap="none" strike="noStrike">
              <a:solidFill>
                <a:srgbClr val="FF6002"/>
              </a:solidFill>
              <a:latin typeface="Barlow Condensed Medium"/>
              <a:ea typeface="Barlow Condensed Medium"/>
              <a:cs typeface="Barlow Condensed Medium"/>
              <a:sym typeface="Barlow Condensed Medium"/>
            </a:endParaRPr>
          </a:p>
        </p:txBody>
      </p:sp>
      <p:sp>
        <p:nvSpPr>
          <p:cNvPr id="339" name="Google Shape;339;p35"/>
          <p:cNvSpPr txBox="1"/>
          <p:nvPr/>
        </p:nvSpPr>
        <p:spPr>
          <a:xfrm>
            <a:off x="6103375" y="2947350"/>
            <a:ext cx="2365200" cy="10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Peça sugestões de melhoria para um código que você já escreveu, em vez de pedir que a IA escreva o código do zero.</a:t>
            </a:r>
            <a:endParaRPr b="0" i="0" sz="1100" u="none" cap="none" strike="noStrike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40" name="Google Shape;340;p35"/>
          <p:cNvSpPr/>
          <p:nvPr/>
        </p:nvSpPr>
        <p:spPr>
          <a:xfrm flipH="1" rot="5400000">
            <a:off x="4068950" y="814575"/>
            <a:ext cx="266700" cy="8404200"/>
          </a:xfrm>
          <a:prstGeom prst="round1Rect">
            <a:avLst>
              <a:gd fmla="val 41768" name="adj"/>
            </a:avLst>
          </a:prstGeom>
          <a:solidFill>
            <a:srgbClr val="FF60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35"/>
          <p:cNvSpPr/>
          <p:nvPr/>
        </p:nvSpPr>
        <p:spPr>
          <a:xfrm>
            <a:off x="5737844" y="-2224575"/>
            <a:ext cx="3840900" cy="3840900"/>
          </a:xfrm>
          <a:prstGeom prst="pie">
            <a:avLst>
              <a:gd fmla="val 21585769" name="adj1"/>
              <a:gd fmla="val 10790918" name="adj2"/>
            </a:avLst>
          </a:prstGeom>
          <a:solidFill>
            <a:srgbClr val="FB6B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7EE"/>
        </a:solidFill>
      </p:bgPr>
    </p:bg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36"/>
          <p:cNvSpPr txBox="1"/>
          <p:nvPr/>
        </p:nvSpPr>
        <p:spPr>
          <a:xfrm>
            <a:off x="675425" y="909400"/>
            <a:ext cx="3896700" cy="114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3900">
                <a:solidFill>
                  <a:srgbClr val="191919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3. PARA MELHORIA DE PRODUTIVIDADE</a:t>
            </a:r>
            <a:endParaRPr b="1" sz="3900">
              <a:solidFill>
                <a:srgbClr val="191919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347" name="Google Shape;347;p36"/>
          <p:cNvSpPr txBox="1"/>
          <p:nvPr/>
        </p:nvSpPr>
        <p:spPr>
          <a:xfrm>
            <a:off x="675428" y="2196150"/>
            <a:ext cx="3599100" cy="4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lang="pt-BR" sz="2300">
                <a:solidFill>
                  <a:srgbClr val="FF6002"/>
                </a:solidFill>
                <a:latin typeface="Barlow Condensed Medium"/>
                <a:ea typeface="Barlow Condensed Medium"/>
                <a:cs typeface="Barlow Condensed Medium"/>
                <a:sym typeface="Barlow Condensed Medium"/>
              </a:rPr>
              <a:t>REVISÃO DE TEXTOS</a:t>
            </a:r>
            <a:endParaRPr b="0" i="0" sz="2300" u="none" cap="none" strike="noStrike">
              <a:solidFill>
                <a:srgbClr val="FF6002"/>
              </a:solidFill>
              <a:latin typeface="Barlow Condensed Medium"/>
              <a:ea typeface="Barlow Condensed Medium"/>
              <a:cs typeface="Barlow Condensed Medium"/>
              <a:sym typeface="Barlow Condensed Medium"/>
            </a:endParaRPr>
          </a:p>
        </p:txBody>
      </p:sp>
      <p:sp>
        <p:nvSpPr>
          <p:cNvPr id="348" name="Google Shape;348;p36"/>
          <p:cNvSpPr txBox="1"/>
          <p:nvPr/>
        </p:nvSpPr>
        <p:spPr>
          <a:xfrm>
            <a:off x="675428" y="2794950"/>
            <a:ext cx="3599100" cy="7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Peça à IA para revisar textos que você escreveu, corrigindo erros gramaticais ou sugerindo melhorias na clareza e coesão.</a:t>
            </a:r>
            <a:endParaRPr b="0" i="0" sz="1100" u="none" cap="none" strike="noStrike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49" name="Google Shape;349;p36"/>
          <p:cNvSpPr/>
          <p:nvPr/>
        </p:nvSpPr>
        <p:spPr>
          <a:xfrm flipH="1" rot="5400000">
            <a:off x="4068950" y="814575"/>
            <a:ext cx="266700" cy="8404200"/>
          </a:xfrm>
          <a:prstGeom prst="round1Rect">
            <a:avLst>
              <a:gd fmla="val 41768" name="adj"/>
            </a:avLst>
          </a:prstGeom>
          <a:solidFill>
            <a:srgbClr val="FF60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36"/>
          <p:cNvSpPr/>
          <p:nvPr/>
        </p:nvSpPr>
        <p:spPr>
          <a:xfrm>
            <a:off x="3611550" y="-2224575"/>
            <a:ext cx="4057800" cy="3840900"/>
          </a:xfrm>
          <a:prstGeom prst="pie">
            <a:avLst>
              <a:gd fmla="val 5392061" name="adj1"/>
              <a:gd fmla="val 10790918" name="adj2"/>
            </a:avLst>
          </a:prstGeom>
          <a:solidFill>
            <a:srgbClr val="FB6B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36"/>
          <p:cNvSpPr/>
          <p:nvPr/>
        </p:nvSpPr>
        <p:spPr>
          <a:xfrm>
            <a:off x="5737844" y="-2224575"/>
            <a:ext cx="3840900" cy="3840900"/>
          </a:xfrm>
          <a:prstGeom prst="pie">
            <a:avLst>
              <a:gd fmla="val 21585769" name="adj1"/>
              <a:gd fmla="val 10790918" name="adj2"/>
            </a:avLst>
          </a:prstGeom>
          <a:solidFill>
            <a:srgbClr val="FB6B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36"/>
          <p:cNvSpPr txBox="1"/>
          <p:nvPr/>
        </p:nvSpPr>
        <p:spPr>
          <a:xfrm>
            <a:off x="4540400" y="2196150"/>
            <a:ext cx="3599100" cy="4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lang="pt-BR" sz="2300">
                <a:solidFill>
                  <a:srgbClr val="FF6002"/>
                </a:solidFill>
                <a:latin typeface="Barlow Condensed Medium"/>
                <a:ea typeface="Barlow Condensed Medium"/>
                <a:cs typeface="Barlow Condensed Medium"/>
                <a:sym typeface="Barlow Condensed Medium"/>
              </a:rPr>
              <a:t>GERAÇÃO DE CENÁRIOS DE TESTE</a:t>
            </a:r>
            <a:endParaRPr b="0" i="0" sz="2300" u="none" cap="none" strike="noStrike">
              <a:solidFill>
                <a:srgbClr val="FF6002"/>
              </a:solidFill>
              <a:latin typeface="Barlow Condensed Medium"/>
              <a:ea typeface="Barlow Condensed Medium"/>
              <a:cs typeface="Barlow Condensed Medium"/>
              <a:sym typeface="Barlow Condensed Medium"/>
            </a:endParaRPr>
          </a:p>
        </p:txBody>
      </p:sp>
      <p:sp>
        <p:nvSpPr>
          <p:cNvPr id="353" name="Google Shape;353;p36"/>
          <p:cNvSpPr txBox="1"/>
          <p:nvPr/>
        </p:nvSpPr>
        <p:spPr>
          <a:xfrm>
            <a:off x="4540400" y="2718750"/>
            <a:ext cx="3599100" cy="7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Use a IA para criar cenários de teste, mas sempre revise e adapte os casos gerados para garantir que estejam alinhados com os requisitos do projeto.</a:t>
            </a:r>
            <a:endParaRPr b="0" i="0" sz="1100" u="none" cap="none" strike="noStrike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7EE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37"/>
          <p:cNvSpPr/>
          <p:nvPr/>
        </p:nvSpPr>
        <p:spPr>
          <a:xfrm flipH="1" rot="5400000">
            <a:off x="4068950" y="814575"/>
            <a:ext cx="266700" cy="8404200"/>
          </a:xfrm>
          <a:prstGeom prst="round1Rect">
            <a:avLst>
              <a:gd fmla="val 41768" name="adj"/>
            </a:avLst>
          </a:prstGeom>
          <a:solidFill>
            <a:srgbClr val="FF60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37"/>
          <p:cNvSpPr txBox="1"/>
          <p:nvPr/>
        </p:nvSpPr>
        <p:spPr>
          <a:xfrm>
            <a:off x="675425" y="909400"/>
            <a:ext cx="3896700" cy="6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3900">
                <a:solidFill>
                  <a:srgbClr val="191919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4. PROMPTS</a:t>
            </a:r>
            <a:endParaRPr b="1" sz="3900">
              <a:solidFill>
                <a:srgbClr val="191919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360" name="Google Shape;360;p37"/>
          <p:cNvSpPr txBox="1"/>
          <p:nvPr/>
        </p:nvSpPr>
        <p:spPr>
          <a:xfrm>
            <a:off x="675425" y="2196150"/>
            <a:ext cx="3599100" cy="4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lang="pt-BR" sz="2300">
                <a:solidFill>
                  <a:srgbClr val="FF6002"/>
                </a:solidFill>
                <a:latin typeface="Barlow Condensed Medium"/>
                <a:ea typeface="Barlow Condensed Medium"/>
                <a:cs typeface="Barlow Condensed Medium"/>
                <a:sym typeface="Barlow Condensed Medium"/>
              </a:rPr>
              <a:t>Mau prompt</a:t>
            </a:r>
            <a:endParaRPr b="0" i="0" sz="2300" u="none" cap="none" strike="noStrike">
              <a:solidFill>
                <a:srgbClr val="FF6002"/>
              </a:solidFill>
              <a:latin typeface="Barlow Condensed Medium"/>
              <a:ea typeface="Barlow Condensed Medium"/>
              <a:cs typeface="Barlow Condensed Medium"/>
              <a:sym typeface="Barlow Condensed Medium"/>
            </a:endParaRPr>
          </a:p>
        </p:txBody>
      </p:sp>
      <p:sp>
        <p:nvSpPr>
          <p:cNvPr id="361" name="Google Shape;361;p37"/>
          <p:cNvSpPr txBox="1"/>
          <p:nvPr/>
        </p:nvSpPr>
        <p:spPr>
          <a:xfrm>
            <a:off x="675425" y="2718750"/>
            <a:ext cx="359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"Faça meu relatório sobre ESG"</a:t>
            </a:r>
            <a:endParaRPr sz="12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62" name="Google Shape;362;p37"/>
          <p:cNvSpPr txBox="1"/>
          <p:nvPr/>
        </p:nvSpPr>
        <p:spPr>
          <a:xfrm>
            <a:off x="4805278" y="2196150"/>
            <a:ext cx="3599100" cy="4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300">
                <a:solidFill>
                  <a:srgbClr val="FF6002"/>
                </a:solidFill>
                <a:latin typeface="Barlow Condensed Medium"/>
                <a:ea typeface="Barlow Condensed Medium"/>
                <a:cs typeface="Barlow Condensed Medium"/>
                <a:sym typeface="Barlow Condensed Medium"/>
              </a:rPr>
              <a:t>Bom prompt</a:t>
            </a:r>
            <a:endParaRPr sz="2300">
              <a:solidFill>
                <a:srgbClr val="FF6002"/>
              </a:solidFill>
              <a:latin typeface="Barlow Condensed Medium"/>
              <a:ea typeface="Barlow Condensed Medium"/>
              <a:cs typeface="Barlow Condensed Medium"/>
              <a:sym typeface="Barlow Condensed Medium"/>
            </a:endParaRPr>
          </a:p>
        </p:txBody>
      </p:sp>
      <p:sp>
        <p:nvSpPr>
          <p:cNvPr id="363" name="Google Shape;363;p37"/>
          <p:cNvSpPr txBox="1"/>
          <p:nvPr/>
        </p:nvSpPr>
        <p:spPr>
          <a:xfrm>
            <a:off x="4805278" y="2718750"/>
            <a:ext cx="3599100" cy="12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"Atue como um especialista em ESG e dê feedbacks sobre meu relatório de ESG que desenvolvi para a disciplina de Projeto da CESAR School. Verifique se os dados são válidos e me traga 5 ideias de possíveis falhas no que estou apresentando."</a:t>
            </a:r>
            <a:endParaRPr sz="12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64" name="Google Shape;364;p37"/>
          <p:cNvSpPr/>
          <p:nvPr/>
        </p:nvSpPr>
        <p:spPr>
          <a:xfrm>
            <a:off x="3611550" y="-2224575"/>
            <a:ext cx="4057800" cy="3840900"/>
          </a:xfrm>
          <a:prstGeom prst="pie">
            <a:avLst>
              <a:gd fmla="val 5392061" name="adj1"/>
              <a:gd fmla="val 10790918" name="adj2"/>
            </a:avLst>
          </a:prstGeom>
          <a:solidFill>
            <a:srgbClr val="FB6B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37"/>
          <p:cNvSpPr/>
          <p:nvPr/>
        </p:nvSpPr>
        <p:spPr>
          <a:xfrm>
            <a:off x="5737844" y="-2224575"/>
            <a:ext cx="3840900" cy="3840900"/>
          </a:xfrm>
          <a:prstGeom prst="pie">
            <a:avLst>
              <a:gd fmla="val 21585769" name="adj1"/>
              <a:gd fmla="val 10790918" name="adj2"/>
            </a:avLst>
          </a:prstGeom>
          <a:solidFill>
            <a:srgbClr val="FB6B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7EE"/>
        </a:solidFill>
      </p:bgPr>
    </p:bg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38"/>
          <p:cNvSpPr/>
          <p:nvPr/>
        </p:nvSpPr>
        <p:spPr>
          <a:xfrm flipH="1" rot="5400000">
            <a:off x="4068950" y="814575"/>
            <a:ext cx="266700" cy="8404200"/>
          </a:xfrm>
          <a:prstGeom prst="round1Rect">
            <a:avLst>
              <a:gd fmla="val 41768" name="adj"/>
            </a:avLst>
          </a:prstGeom>
          <a:solidFill>
            <a:srgbClr val="FF60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38"/>
          <p:cNvSpPr txBox="1"/>
          <p:nvPr/>
        </p:nvSpPr>
        <p:spPr>
          <a:xfrm>
            <a:off x="675425" y="909400"/>
            <a:ext cx="3896700" cy="6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3900">
                <a:solidFill>
                  <a:srgbClr val="191919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4. PROMPTS</a:t>
            </a:r>
            <a:endParaRPr b="1" sz="3900">
              <a:solidFill>
                <a:srgbClr val="191919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372" name="Google Shape;372;p38"/>
          <p:cNvSpPr txBox="1"/>
          <p:nvPr/>
        </p:nvSpPr>
        <p:spPr>
          <a:xfrm>
            <a:off x="675425" y="2196150"/>
            <a:ext cx="3599100" cy="4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lang="pt-BR" sz="2300">
                <a:solidFill>
                  <a:srgbClr val="FF6002"/>
                </a:solidFill>
                <a:latin typeface="Barlow Condensed Medium"/>
                <a:ea typeface="Barlow Condensed Medium"/>
                <a:cs typeface="Barlow Condensed Medium"/>
                <a:sym typeface="Barlow Condensed Medium"/>
              </a:rPr>
              <a:t>Mau prompt</a:t>
            </a:r>
            <a:endParaRPr b="0" i="0" sz="2300" u="none" cap="none" strike="noStrike">
              <a:solidFill>
                <a:srgbClr val="FF6002"/>
              </a:solidFill>
              <a:latin typeface="Barlow Condensed Medium"/>
              <a:ea typeface="Barlow Condensed Medium"/>
              <a:cs typeface="Barlow Condensed Medium"/>
              <a:sym typeface="Barlow Condensed Medium"/>
            </a:endParaRPr>
          </a:p>
        </p:txBody>
      </p:sp>
      <p:sp>
        <p:nvSpPr>
          <p:cNvPr id="373" name="Google Shape;373;p38"/>
          <p:cNvSpPr txBox="1"/>
          <p:nvPr/>
        </p:nvSpPr>
        <p:spPr>
          <a:xfrm>
            <a:off x="675425" y="2718750"/>
            <a:ext cx="359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"Resolva este exercício usando Python"</a:t>
            </a:r>
            <a:endParaRPr sz="12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74" name="Google Shape;374;p38"/>
          <p:cNvSpPr txBox="1"/>
          <p:nvPr/>
        </p:nvSpPr>
        <p:spPr>
          <a:xfrm>
            <a:off x="4805278" y="2196150"/>
            <a:ext cx="3599100" cy="4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300">
                <a:solidFill>
                  <a:srgbClr val="FF6002"/>
                </a:solidFill>
                <a:latin typeface="Barlow Condensed Medium"/>
                <a:ea typeface="Barlow Condensed Medium"/>
                <a:cs typeface="Barlow Condensed Medium"/>
                <a:sym typeface="Barlow Condensed Medium"/>
              </a:rPr>
              <a:t>Bom prompt</a:t>
            </a:r>
            <a:endParaRPr sz="2300">
              <a:solidFill>
                <a:srgbClr val="FF6002"/>
              </a:solidFill>
              <a:latin typeface="Barlow Condensed Medium"/>
              <a:ea typeface="Barlow Condensed Medium"/>
              <a:cs typeface="Barlow Condensed Medium"/>
              <a:sym typeface="Barlow Condensed Medium"/>
            </a:endParaRPr>
          </a:p>
        </p:txBody>
      </p:sp>
      <p:sp>
        <p:nvSpPr>
          <p:cNvPr id="375" name="Google Shape;375;p38"/>
          <p:cNvSpPr txBox="1"/>
          <p:nvPr/>
        </p:nvSpPr>
        <p:spPr>
          <a:xfrm>
            <a:off x="4805278" y="2718750"/>
            <a:ext cx="3599100" cy="10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"Atue como um tutor de Python para estudantes do 1º período de Ciência da Computação. Me dê dicas de como posso começar a resolver o exercício abaixo."</a:t>
            </a:r>
            <a:endParaRPr sz="12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76" name="Google Shape;376;p38"/>
          <p:cNvSpPr/>
          <p:nvPr/>
        </p:nvSpPr>
        <p:spPr>
          <a:xfrm>
            <a:off x="3611550" y="-2224575"/>
            <a:ext cx="4057800" cy="3840900"/>
          </a:xfrm>
          <a:prstGeom prst="pie">
            <a:avLst>
              <a:gd fmla="val 5392061" name="adj1"/>
              <a:gd fmla="val 10790918" name="adj2"/>
            </a:avLst>
          </a:prstGeom>
          <a:solidFill>
            <a:srgbClr val="FB6B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38"/>
          <p:cNvSpPr/>
          <p:nvPr/>
        </p:nvSpPr>
        <p:spPr>
          <a:xfrm>
            <a:off x="5737844" y="-2224575"/>
            <a:ext cx="3840900" cy="3840900"/>
          </a:xfrm>
          <a:prstGeom prst="pie">
            <a:avLst>
              <a:gd fmla="val 21585769" name="adj1"/>
              <a:gd fmla="val 10790918" name="adj2"/>
            </a:avLst>
          </a:prstGeom>
          <a:solidFill>
            <a:srgbClr val="FB6B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7EE"/>
        </a:solidFill>
      </p:bgPr>
    </p:bg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39"/>
          <p:cNvSpPr/>
          <p:nvPr/>
        </p:nvSpPr>
        <p:spPr>
          <a:xfrm flipH="1" rot="5400000">
            <a:off x="4068950" y="814575"/>
            <a:ext cx="266700" cy="8404200"/>
          </a:xfrm>
          <a:prstGeom prst="round1Rect">
            <a:avLst>
              <a:gd fmla="val 41768" name="adj"/>
            </a:avLst>
          </a:prstGeom>
          <a:solidFill>
            <a:srgbClr val="FF60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39"/>
          <p:cNvSpPr txBox="1"/>
          <p:nvPr/>
        </p:nvSpPr>
        <p:spPr>
          <a:xfrm>
            <a:off x="675425" y="909400"/>
            <a:ext cx="3896700" cy="6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3900">
                <a:solidFill>
                  <a:srgbClr val="191919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4. PROMPTS</a:t>
            </a:r>
            <a:endParaRPr b="1" sz="3900">
              <a:solidFill>
                <a:srgbClr val="191919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384" name="Google Shape;384;p39"/>
          <p:cNvSpPr txBox="1"/>
          <p:nvPr/>
        </p:nvSpPr>
        <p:spPr>
          <a:xfrm>
            <a:off x="675425" y="2196150"/>
            <a:ext cx="3599100" cy="4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lang="pt-BR" sz="2300">
                <a:solidFill>
                  <a:srgbClr val="FF6002"/>
                </a:solidFill>
                <a:latin typeface="Barlow Condensed Medium"/>
                <a:ea typeface="Barlow Condensed Medium"/>
                <a:cs typeface="Barlow Condensed Medium"/>
                <a:sym typeface="Barlow Condensed Medium"/>
              </a:rPr>
              <a:t>Template</a:t>
            </a:r>
            <a:endParaRPr b="0" i="0" sz="2300" u="none" cap="none" strike="noStrike">
              <a:solidFill>
                <a:srgbClr val="FF6002"/>
              </a:solidFill>
              <a:latin typeface="Barlow Condensed Medium"/>
              <a:ea typeface="Barlow Condensed Medium"/>
              <a:cs typeface="Barlow Condensed Medium"/>
              <a:sym typeface="Barlow Condensed Medium"/>
            </a:endParaRPr>
          </a:p>
        </p:txBody>
      </p:sp>
      <p:sp>
        <p:nvSpPr>
          <p:cNvPr id="385" name="Google Shape;385;p39"/>
          <p:cNvSpPr txBox="1"/>
          <p:nvPr/>
        </p:nvSpPr>
        <p:spPr>
          <a:xfrm>
            <a:off x="675425" y="2718750"/>
            <a:ext cx="5549700" cy="16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Contexto: [curso, tema, nível]</a:t>
            </a:r>
            <a:endParaRPr sz="12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Tarefa: [o que fazer, sem “entregar pronto”]</a:t>
            </a:r>
            <a:endParaRPr sz="12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Restrições: [ferramentas, dados fictícios, limites]</a:t>
            </a:r>
            <a:endParaRPr sz="12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Critérios: [clareza, fontes, testes]</a:t>
            </a:r>
            <a:endParaRPr sz="12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Formato: [itens numerados, código único, checklist, sem gabarito final]</a:t>
            </a:r>
            <a:endParaRPr sz="12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86" name="Google Shape;386;p39"/>
          <p:cNvSpPr/>
          <p:nvPr/>
        </p:nvSpPr>
        <p:spPr>
          <a:xfrm>
            <a:off x="3611550" y="-2224575"/>
            <a:ext cx="4057800" cy="3840900"/>
          </a:xfrm>
          <a:prstGeom prst="pie">
            <a:avLst>
              <a:gd fmla="val 5392061" name="adj1"/>
              <a:gd fmla="val 10790918" name="adj2"/>
            </a:avLst>
          </a:prstGeom>
          <a:solidFill>
            <a:srgbClr val="FB6B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39"/>
          <p:cNvSpPr/>
          <p:nvPr/>
        </p:nvSpPr>
        <p:spPr>
          <a:xfrm>
            <a:off x="5737844" y="-2224575"/>
            <a:ext cx="3840900" cy="3840900"/>
          </a:xfrm>
          <a:prstGeom prst="pie">
            <a:avLst>
              <a:gd fmla="val 21585769" name="adj1"/>
              <a:gd fmla="val 10790918" name="adj2"/>
            </a:avLst>
          </a:prstGeom>
          <a:solidFill>
            <a:srgbClr val="FB6B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7EE"/>
        </a:solidFill>
      </p:bgPr>
    </p:bg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40"/>
          <p:cNvSpPr txBox="1"/>
          <p:nvPr/>
        </p:nvSpPr>
        <p:spPr>
          <a:xfrm>
            <a:off x="1515250" y="1828950"/>
            <a:ext cx="2826000" cy="12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pt-BR"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Construa primeiro, corrija depois:</a:t>
            </a:r>
            <a:r>
              <a:rPr lang="pt-BR"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 Tente resolver problemas e escrever textos sem recorrer imediatamente à IA. Só depois peça ajuda para otimizar ou esclarecer dúvidas pontuais.</a:t>
            </a:r>
            <a:endParaRPr b="0" i="0" sz="1200" u="none" cap="none" strike="noStrike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93" name="Google Shape;393;p40"/>
          <p:cNvSpPr/>
          <p:nvPr/>
        </p:nvSpPr>
        <p:spPr>
          <a:xfrm>
            <a:off x="831625" y="1854746"/>
            <a:ext cx="494100" cy="776400"/>
          </a:xfrm>
          <a:prstGeom prst="roundRect">
            <a:avLst>
              <a:gd fmla="val 50000" name="adj"/>
            </a:avLst>
          </a:prstGeom>
          <a:solidFill>
            <a:srgbClr val="FF600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94" name="Google Shape;394;p40"/>
          <p:cNvGrpSpPr/>
          <p:nvPr/>
        </p:nvGrpSpPr>
        <p:grpSpPr>
          <a:xfrm>
            <a:off x="834804" y="3195597"/>
            <a:ext cx="487782" cy="631985"/>
            <a:chOff x="1824779" y="2909234"/>
            <a:chExt cx="487782" cy="631985"/>
          </a:xfrm>
        </p:grpSpPr>
        <p:sp>
          <p:nvSpPr>
            <p:cNvPr id="395" name="Google Shape;395;p40"/>
            <p:cNvSpPr/>
            <p:nvPr/>
          </p:nvSpPr>
          <p:spPr>
            <a:xfrm rot="-5400000">
              <a:off x="1946711" y="2787302"/>
              <a:ext cx="243918" cy="487782"/>
            </a:xfrm>
            <a:custGeom>
              <a:rect b="b" l="l" r="r" t="t"/>
              <a:pathLst>
                <a:path extrusionOk="0" h="21600" w="21600">
                  <a:moveTo>
                    <a:pt x="0" y="21600"/>
                  </a:moveTo>
                  <a:cubicBezTo>
                    <a:pt x="11927" y="21600"/>
                    <a:pt x="21600" y="16764"/>
                    <a:pt x="21600" y="10800"/>
                  </a:cubicBezTo>
                  <a:cubicBezTo>
                    <a:pt x="21600" y="4836"/>
                    <a:pt x="11927" y="0"/>
                    <a:pt x="0" y="0"/>
                  </a:cubicBezTo>
                  <a:lnTo>
                    <a:pt x="0" y="21600"/>
                  </a:lnTo>
                  <a:close/>
                </a:path>
              </a:pathLst>
            </a:custGeom>
            <a:solidFill>
              <a:srgbClr val="FF6002"/>
            </a:solidFill>
            <a:ln>
              <a:noFill/>
            </a:ln>
          </p:spPr>
          <p:txBody>
            <a:bodyPr anchorCtr="0" anchor="ctr" bIns="67725" lIns="67725" spcFirstLastPara="1" rIns="67725" wrap="square" tIns="677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4300"/>
                <a:buFont typeface="Helvetica Neue"/>
                <a:buNone/>
              </a:pPr>
              <a:r>
                <a:t/>
              </a:r>
              <a:endParaRPr b="0" i="0" sz="43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396" name="Google Shape;396;p40"/>
            <p:cNvSpPr/>
            <p:nvPr/>
          </p:nvSpPr>
          <p:spPr>
            <a:xfrm rot="-5400000">
              <a:off x="1946711" y="3175369"/>
              <a:ext cx="243918" cy="487782"/>
            </a:xfrm>
            <a:custGeom>
              <a:rect b="b" l="l" r="r" t="t"/>
              <a:pathLst>
                <a:path extrusionOk="0" h="21600" w="21600">
                  <a:moveTo>
                    <a:pt x="0" y="21600"/>
                  </a:moveTo>
                  <a:cubicBezTo>
                    <a:pt x="11927" y="21600"/>
                    <a:pt x="21600" y="16764"/>
                    <a:pt x="21600" y="10800"/>
                  </a:cubicBezTo>
                  <a:cubicBezTo>
                    <a:pt x="21600" y="4836"/>
                    <a:pt x="11927" y="0"/>
                    <a:pt x="0" y="0"/>
                  </a:cubicBezTo>
                  <a:lnTo>
                    <a:pt x="0" y="21600"/>
                  </a:lnTo>
                  <a:close/>
                </a:path>
              </a:pathLst>
            </a:custGeom>
            <a:solidFill>
              <a:srgbClr val="FF6002"/>
            </a:solidFill>
            <a:ln>
              <a:noFill/>
            </a:ln>
          </p:spPr>
          <p:txBody>
            <a:bodyPr anchorCtr="0" anchor="ctr" bIns="67725" lIns="67725" spcFirstLastPara="1" rIns="67725" wrap="square" tIns="677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4300"/>
                <a:buFont typeface="Helvetica Neue"/>
                <a:buNone/>
              </a:pPr>
              <a:r>
                <a:t/>
              </a:r>
              <a:endParaRPr b="0" i="0" sz="43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397" name="Google Shape;397;p40"/>
          <p:cNvGrpSpPr/>
          <p:nvPr/>
        </p:nvGrpSpPr>
        <p:grpSpPr>
          <a:xfrm>
            <a:off x="4881485" y="3195589"/>
            <a:ext cx="487782" cy="631985"/>
            <a:chOff x="6810747" y="2909239"/>
            <a:chExt cx="487782" cy="631985"/>
          </a:xfrm>
        </p:grpSpPr>
        <p:sp>
          <p:nvSpPr>
            <p:cNvPr id="398" name="Google Shape;398;p40"/>
            <p:cNvSpPr/>
            <p:nvPr/>
          </p:nvSpPr>
          <p:spPr>
            <a:xfrm rot="5400000">
              <a:off x="6932679" y="3175374"/>
              <a:ext cx="243918" cy="487782"/>
            </a:xfrm>
            <a:custGeom>
              <a:rect b="b" l="l" r="r" t="t"/>
              <a:pathLst>
                <a:path extrusionOk="0" h="21600" w="21600">
                  <a:moveTo>
                    <a:pt x="0" y="21600"/>
                  </a:moveTo>
                  <a:cubicBezTo>
                    <a:pt x="11927" y="21600"/>
                    <a:pt x="21600" y="16764"/>
                    <a:pt x="21600" y="10800"/>
                  </a:cubicBezTo>
                  <a:cubicBezTo>
                    <a:pt x="21600" y="4836"/>
                    <a:pt x="11927" y="0"/>
                    <a:pt x="0" y="0"/>
                  </a:cubicBezTo>
                  <a:lnTo>
                    <a:pt x="0" y="21600"/>
                  </a:lnTo>
                  <a:close/>
                </a:path>
              </a:pathLst>
            </a:custGeom>
            <a:solidFill>
              <a:srgbClr val="FF6002"/>
            </a:solidFill>
            <a:ln>
              <a:noFill/>
            </a:ln>
          </p:spPr>
          <p:txBody>
            <a:bodyPr anchorCtr="0" anchor="ctr" bIns="67725" lIns="67725" spcFirstLastPara="1" rIns="67725" wrap="square" tIns="677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4300"/>
                <a:buFont typeface="Helvetica Neue"/>
                <a:buNone/>
              </a:pPr>
              <a:r>
                <a:t/>
              </a:r>
              <a:endParaRPr b="0" i="0" sz="43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399" name="Google Shape;399;p40"/>
            <p:cNvSpPr/>
            <p:nvPr/>
          </p:nvSpPr>
          <p:spPr>
            <a:xfrm rot="5400000">
              <a:off x="6932679" y="2787307"/>
              <a:ext cx="243918" cy="487782"/>
            </a:xfrm>
            <a:custGeom>
              <a:rect b="b" l="l" r="r" t="t"/>
              <a:pathLst>
                <a:path extrusionOk="0" h="21600" w="21600">
                  <a:moveTo>
                    <a:pt x="0" y="21600"/>
                  </a:moveTo>
                  <a:cubicBezTo>
                    <a:pt x="11927" y="21600"/>
                    <a:pt x="21600" y="16764"/>
                    <a:pt x="21600" y="10800"/>
                  </a:cubicBezTo>
                  <a:cubicBezTo>
                    <a:pt x="21600" y="4836"/>
                    <a:pt x="11927" y="0"/>
                    <a:pt x="0" y="0"/>
                  </a:cubicBezTo>
                  <a:lnTo>
                    <a:pt x="0" y="21600"/>
                  </a:lnTo>
                  <a:close/>
                </a:path>
              </a:pathLst>
            </a:custGeom>
            <a:solidFill>
              <a:srgbClr val="FF6002"/>
            </a:solidFill>
            <a:ln>
              <a:noFill/>
            </a:ln>
          </p:spPr>
          <p:txBody>
            <a:bodyPr anchorCtr="0" anchor="ctr" bIns="67725" lIns="67725" spcFirstLastPara="1" rIns="67725" wrap="square" tIns="677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4300"/>
                <a:buFont typeface="Helvetica Neue"/>
                <a:buNone/>
              </a:pPr>
              <a:r>
                <a:t/>
              </a:r>
              <a:endParaRPr b="0" i="0" sz="43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sp>
        <p:nvSpPr>
          <p:cNvPr id="400" name="Google Shape;400;p40"/>
          <p:cNvSpPr/>
          <p:nvPr/>
        </p:nvSpPr>
        <p:spPr>
          <a:xfrm rot="10800000">
            <a:off x="4860771" y="1936046"/>
            <a:ext cx="529200" cy="529200"/>
          </a:xfrm>
          <a:prstGeom prst="ellipse">
            <a:avLst/>
          </a:prstGeom>
          <a:solidFill>
            <a:srgbClr val="FF600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40"/>
          <p:cNvSpPr txBox="1"/>
          <p:nvPr/>
        </p:nvSpPr>
        <p:spPr>
          <a:xfrm>
            <a:off x="1515250" y="3139875"/>
            <a:ext cx="2826000" cy="12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pt-BR"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Expanda seu raciocínio:</a:t>
            </a:r>
            <a:r>
              <a:rPr lang="pt-BR"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 Questione a resposta da IA. Se algo não fizer sentido, pesquise novas fontes e tente compreender o raciocínio por trás de cada sugestão.</a:t>
            </a:r>
            <a:endParaRPr b="0" i="0" sz="1200" u="none" cap="none" strike="noStrike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402" name="Google Shape;402;p40"/>
          <p:cNvSpPr txBox="1"/>
          <p:nvPr/>
        </p:nvSpPr>
        <p:spPr>
          <a:xfrm>
            <a:off x="5563375" y="1828950"/>
            <a:ext cx="2826000" cy="10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pt-BR"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Registre suas descobertas:</a:t>
            </a:r>
            <a:r>
              <a:rPr lang="pt-BR"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 Faça anotações sobre o que foi útil na interação com a IA, para que você não dependa da ferramenta futuramente.</a:t>
            </a:r>
            <a:endParaRPr b="0" i="0" sz="1200" u="none" cap="none" strike="noStrike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403" name="Google Shape;403;p40"/>
          <p:cNvSpPr txBox="1"/>
          <p:nvPr/>
        </p:nvSpPr>
        <p:spPr>
          <a:xfrm>
            <a:off x="5563375" y="3139875"/>
            <a:ext cx="2826000" cy="12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pt-BR"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Valorize o erro:</a:t>
            </a:r>
            <a:r>
              <a:rPr lang="pt-BR"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 </a:t>
            </a:r>
            <a:r>
              <a:rPr lang="pt-BR"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ERRAR FAZ PARTE DO PROCESSO DE APRENDIZADO</a:t>
            </a:r>
            <a:r>
              <a:rPr lang="pt-BR"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. Quando a IA sinaliza um erro ou sugere correções, reflita para entender por que aquilo estava errado.</a:t>
            </a:r>
            <a:endParaRPr b="0" i="0" sz="1200" u="none" cap="none" strike="noStrike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404" name="Google Shape;404;p40"/>
          <p:cNvSpPr txBox="1"/>
          <p:nvPr/>
        </p:nvSpPr>
        <p:spPr>
          <a:xfrm>
            <a:off x="754600" y="852225"/>
            <a:ext cx="4347300" cy="6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</a:pPr>
            <a:r>
              <a:rPr b="1" lang="pt-BR" sz="3900">
                <a:solidFill>
                  <a:srgbClr val="FF600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DICAS PARA GARANTIR A APRENDIZAGEM</a:t>
            </a:r>
            <a:endParaRPr sz="700">
              <a:solidFill>
                <a:srgbClr val="FF6002"/>
              </a:solidFill>
            </a:endParaRPr>
          </a:p>
        </p:txBody>
      </p:sp>
      <p:sp>
        <p:nvSpPr>
          <p:cNvPr id="405" name="Google Shape;405;p40"/>
          <p:cNvSpPr/>
          <p:nvPr/>
        </p:nvSpPr>
        <p:spPr>
          <a:xfrm>
            <a:off x="6369950" y="-2210975"/>
            <a:ext cx="4057800" cy="3840900"/>
          </a:xfrm>
          <a:prstGeom prst="pie">
            <a:avLst>
              <a:gd fmla="val 5392061" name="adj1"/>
              <a:gd fmla="val 10790918" name="adj2"/>
            </a:avLst>
          </a:prstGeom>
          <a:solidFill>
            <a:srgbClr val="2323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40"/>
          <p:cNvSpPr/>
          <p:nvPr/>
        </p:nvSpPr>
        <p:spPr>
          <a:xfrm>
            <a:off x="8618900" y="-2210975"/>
            <a:ext cx="4057800" cy="3840900"/>
          </a:xfrm>
          <a:prstGeom prst="pie">
            <a:avLst>
              <a:gd fmla="val 5392061" name="adj1"/>
              <a:gd fmla="val 10790918" name="adj2"/>
            </a:avLst>
          </a:prstGeom>
          <a:solidFill>
            <a:srgbClr val="2323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40"/>
          <p:cNvSpPr/>
          <p:nvPr/>
        </p:nvSpPr>
        <p:spPr>
          <a:xfrm flipH="1">
            <a:off x="-3415675" y="2455350"/>
            <a:ext cx="4057800" cy="3840900"/>
          </a:xfrm>
          <a:prstGeom prst="pie">
            <a:avLst>
              <a:gd fmla="val 5392061" name="adj1"/>
              <a:gd fmla="val 10790918" name="adj2"/>
            </a:avLst>
          </a:prstGeom>
          <a:solidFill>
            <a:srgbClr val="2323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40"/>
          <p:cNvSpPr/>
          <p:nvPr/>
        </p:nvSpPr>
        <p:spPr>
          <a:xfrm flipH="1">
            <a:off x="-1227450" y="2982425"/>
            <a:ext cx="4057800" cy="3840900"/>
          </a:xfrm>
          <a:prstGeom prst="pie">
            <a:avLst>
              <a:gd fmla="val 5392061" name="adj1"/>
              <a:gd fmla="val 10790918" name="adj2"/>
            </a:avLst>
          </a:prstGeom>
          <a:solidFill>
            <a:srgbClr val="FF60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32323"/>
        </a:solidFill>
      </p:bgPr>
    </p:bg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41"/>
          <p:cNvSpPr txBox="1"/>
          <p:nvPr/>
        </p:nvSpPr>
        <p:spPr>
          <a:xfrm>
            <a:off x="606775" y="1237500"/>
            <a:ext cx="7496400" cy="36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O uso de IA é uma </a:t>
            </a:r>
            <a:r>
              <a:rPr b="1" lang="pt-BR"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ferramenta</a:t>
            </a:r>
            <a:r>
              <a:rPr lang="pt-BR"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 valiosa para </a:t>
            </a:r>
            <a:r>
              <a:rPr b="1" lang="pt-BR"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agilizar</a:t>
            </a:r>
            <a:r>
              <a:rPr lang="pt-BR"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 tarefas, </a:t>
            </a:r>
            <a:r>
              <a:rPr b="1" lang="pt-BR"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explorar</a:t>
            </a:r>
            <a:r>
              <a:rPr lang="pt-BR"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 possibilidades e </a:t>
            </a:r>
            <a:r>
              <a:rPr b="1" lang="pt-BR"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aprofundar</a:t>
            </a:r>
            <a:r>
              <a:rPr lang="pt-BR"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 o conhecimento. Entretanto, é fundamental que você, enquanto estudante de Ciência da Computação, desenvolva suas </a:t>
            </a:r>
            <a:r>
              <a:rPr b="1" lang="pt-BR"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próprias habilidades</a:t>
            </a:r>
            <a:r>
              <a:rPr lang="pt-BR"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 e capacidade de </a:t>
            </a:r>
            <a:r>
              <a:rPr b="1" lang="pt-BR"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pensar criticamente</a:t>
            </a:r>
            <a:r>
              <a:rPr lang="pt-BR"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. A IA deve </a:t>
            </a:r>
            <a:r>
              <a:rPr b="1" lang="pt-BR"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complementar</a:t>
            </a:r>
            <a:r>
              <a:rPr lang="pt-BR"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, não substituir, a autoria e a inteligência humana.</a:t>
            </a:r>
            <a:endParaRPr sz="18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Seguir estas </a:t>
            </a:r>
            <a:r>
              <a:rPr b="1" lang="pt-BR"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boas práticas</a:t>
            </a:r>
            <a:r>
              <a:rPr lang="pt-BR"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 não apenas garante seu desenvolvimento acadêmico, mas também forma profissionais mais preparados, responsáveis e conscientes dos impactos que a tecnologia pode trazer para a sociedade.</a:t>
            </a:r>
            <a:endParaRPr sz="18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Boa jornada e bons estudos!</a:t>
            </a:r>
            <a:endParaRPr i="1" sz="18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414" name="Google Shape;414;p41"/>
          <p:cNvSpPr/>
          <p:nvPr/>
        </p:nvSpPr>
        <p:spPr>
          <a:xfrm rot="-5400000">
            <a:off x="8087925" y="-1032625"/>
            <a:ext cx="2100300" cy="2069700"/>
          </a:xfrm>
          <a:prstGeom prst="pie">
            <a:avLst>
              <a:gd fmla="val 10849816" name="adj1"/>
              <a:gd fmla="val 16209164" name="adj2"/>
            </a:avLst>
          </a:prstGeom>
          <a:noFill/>
          <a:ln cap="flat" cmpd="sng" w="19050">
            <a:solidFill>
              <a:srgbClr val="FB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41"/>
          <p:cNvSpPr/>
          <p:nvPr/>
        </p:nvSpPr>
        <p:spPr>
          <a:xfrm rot="5400000">
            <a:off x="7068600" y="4089650"/>
            <a:ext cx="2055300" cy="2094900"/>
          </a:xfrm>
          <a:prstGeom prst="pie">
            <a:avLst>
              <a:gd fmla="val 10761822" name="adj1"/>
              <a:gd fmla="val 16209164" name="adj2"/>
            </a:avLst>
          </a:prstGeom>
          <a:solidFill>
            <a:srgbClr val="FB6B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41"/>
          <p:cNvSpPr txBox="1"/>
          <p:nvPr/>
        </p:nvSpPr>
        <p:spPr>
          <a:xfrm>
            <a:off x="606775" y="432900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pt-BR" sz="30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POR FIM…</a:t>
            </a:r>
            <a:endParaRPr b="1" sz="3000"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32323"/>
        </a:solidFill>
      </p:bgPr>
    </p:bg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42"/>
          <p:cNvSpPr/>
          <p:nvPr/>
        </p:nvSpPr>
        <p:spPr>
          <a:xfrm>
            <a:off x="1850" y="252575"/>
            <a:ext cx="4622700" cy="4622700"/>
          </a:xfrm>
          <a:prstGeom prst="pie">
            <a:avLst>
              <a:gd fmla="val 5392061" name="adj1"/>
              <a:gd fmla="val 16238908" name="adj2"/>
            </a:avLst>
          </a:prstGeom>
          <a:solidFill>
            <a:srgbClr val="FEF7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42"/>
          <p:cNvSpPr/>
          <p:nvPr/>
        </p:nvSpPr>
        <p:spPr>
          <a:xfrm>
            <a:off x="2260650" y="268201"/>
            <a:ext cx="4622700" cy="4622700"/>
          </a:xfrm>
          <a:prstGeom prst="ellipse">
            <a:avLst/>
          </a:prstGeom>
          <a:solidFill>
            <a:srgbClr val="FEF7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42"/>
          <p:cNvSpPr/>
          <p:nvPr/>
        </p:nvSpPr>
        <p:spPr>
          <a:xfrm>
            <a:off x="6883350" y="252575"/>
            <a:ext cx="4622700" cy="4622700"/>
          </a:xfrm>
          <a:prstGeom prst="pie">
            <a:avLst>
              <a:gd fmla="val 5392061" name="adj1"/>
              <a:gd fmla="val 16238908" name="adj2"/>
            </a:avLst>
          </a:prstGeom>
          <a:solidFill>
            <a:srgbClr val="FEF7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42"/>
          <p:cNvSpPr/>
          <p:nvPr/>
        </p:nvSpPr>
        <p:spPr>
          <a:xfrm rot="-5400000">
            <a:off x="-103275" y="3385250"/>
            <a:ext cx="1947900" cy="1947900"/>
          </a:xfrm>
          <a:prstGeom prst="pie">
            <a:avLst>
              <a:gd fmla="val 5392061" name="adj1"/>
              <a:gd fmla="val 16238908" name="adj2"/>
            </a:avLst>
          </a:prstGeom>
          <a:solidFill>
            <a:srgbClr val="FF60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42"/>
          <p:cNvSpPr/>
          <p:nvPr/>
        </p:nvSpPr>
        <p:spPr>
          <a:xfrm rot="5400000">
            <a:off x="1652525" y="4486950"/>
            <a:ext cx="1947900" cy="1947900"/>
          </a:xfrm>
          <a:prstGeom prst="pie">
            <a:avLst>
              <a:gd fmla="val 5392061" name="adj1"/>
              <a:gd fmla="val 16238908" name="adj2"/>
            </a:avLst>
          </a:prstGeom>
          <a:solidFill>
            <a:srgbClr val="FF60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42"/>
          <p:cNvSpPr/>
          <p:nvPr/>
        </p:nvSpPr>
        <p:spPr>
          <a:xfrm rot="5400000">
            <a:off x="2497388" y="3912950"/>
            <a:ext cx="2358300" cy="2446500"/>
          </a:xfrm>
          <a:prstGeom prst="pie">
            <a:avLst>
              <a:gd fmla="val 10761822" name="adj1"/>
              <a:gd fmla="val 16186354" name="adj2"/>
            </a:avLst>
          </a:prstGeom>
          <a:noFill/>
          <a:ln cap="flat" cmpd="sng" w="19050">
            <a:solidFill>
              <a:srgbClr val="FF600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42"/>
          <p:cNvSpPr/>
          <p:nvPr/>
        </p:nvSpPr>
        <p:spPr>
          <a:xfrm rot="-5400000">
            <a:off x="7706000" y="-942350"/>
            <a:ext cx="2205000" cy="2247300"/>
          </a:xfrm>
          <a:prstGeom prst="pie">
            <a:avLst>
              <a:gd fmla="val 10761822" name="adj1"/>
              <a:gd fmla="val 16209164" name="adj2"/>
            </a:avLst>
          </a:prstGeom>
          <a:solidFill>
            <a:srgbClr val="FF60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8" name="Google Shape;428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99450" y="507150"/>
            <a:ext cx="1288650" cy="12886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29" name="Google Shape;429;p42"/>
          <p:cNvCxnSpPr/>
          <p:nvPr/>
        </p:nvCxnSpPr>
        <p:spPr>
          <a:xfrm>
            <a:off x="4347700" y="1884450"/>
            <a:ext cx="0" cy="1390200"/>
          </a:xfrm>
          <a:prstGeom prst="straightConnector1">
            <a:avLst/>
          </a:prstGeom>
          <a:noFill/>
          <a:ln cap="flat" cmpd="sng" w="19050">
            <a:solidFill>
              <a:srgbClr val="FF600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0" name="Google Shape;430;p42"/>
          <p:cNvSpPr txBox="1"/>
          <p:nvPr/>
        </p:nvSpPr>
        <p:spPr>
          <a:xfrm>
            <a:off x="4470275" y="2036713"/>
            <a:ext cx="2154600" cy="45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lang="pt-BR" sz="2200">
                <a:solidFill>
                  <a:srgbClr val="FF600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ERICK SIMÕES</a:t>
            </a:r>
            <a:endParaRPr b="0" i="0" sz="100" u="none" cap="none" strike="noStrike">
              <a:solidFill>
                <a:srgbClr val="FF600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1" name="Google Shape;431;p42"/>
          <p:cNvPicPr preferRelativeResize="0"/>
          <p:nvPr/>
        </p:nvPicPr>
        <p:blipFill rotWithShape="1">
          <a:blip r:embed="rId4">
            <a:alphaModFix/>
          </a:blip>
          <a:srcRect b="16960" l="16284" r="16646" t="16682"/>
          <a:stretch/>
        </p:blipFill>
        <p:spPr>
          <a:xfrm>
            <a:off x="4565975" y="2733325"/>
            <a:ext cx="227875" cy="225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2" name="Google Shape;432;p4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62950" y="2509275"/>
            <a:ext cx="233900" cy="187247"/>
          </a:xfrm>
          <a:prstGeom prst="rect">
            <a:avLst/>
          </a:prstGeom>
          <a:noFill/>
          <a:ln>
            <a:noFill/>
          </a:ln>
        </p:spPr>
      </p:pic>
      <p:sp>
        <p:nvSpPr>
          <p:cNvPr id="433" name="Google Shape;433;p42"/>
          <p:cNvSpPr txBox="1"/>
          <p:nvPr/>
        </p:nvSpPr>
        <p:spPr>
          <a:xfrm>
            <a:off x="4840275" y="2402550"/>
            <a:ext cx="2365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BR" sz="11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erick.simoes</a:t>
            </a:r>
            <a:r>
              <a:rPr b="0" i="0" lang="pt-BR" sz="1100" u="none" cap="none" strike="noStrik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@cesar.school</a:t>
            </a:r>
            <a:endParaRPr b="0" i="0" sz="1000" u="none" cap="none" strike="noStrike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434" name="Google Shape;434;p42"/>
          <p:cNvSpPr txBox="1"/>
          <p:nvPr/>
        </p:nvSpPr>
        <p:spPr>
          <a:xfrm>
            <a:off x="4840275" y="2669050"/>
            <a:ext cx="2365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pt-BR" sz="1100" u="none" cap="none" strike="noStrik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in/</a:t>
            </a:r>
            <a:r>
              <a:rPr lang="pt-BR" sz="11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ericksimoes</a:t>
            </a:r>
            <a:endParaRPr b="0" i="0" sz="1000" u="none" cap="none" strike="noStrike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pic>
        <p:nvPicPr>
          <p:cNvPr id="435" name="Google Shape;435;p4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106965" y="2139400"/>
            <a:ext cx="951819" cy="849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